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hBJNJokO4VNY0TvbVb+c4x+qAQ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5673F3-8677-4D4A-8471-EC2214972419}">
  <a:tblStyle styleId="{A65673F3-8677-4D4A-8471-EC221497241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E8EC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ECF4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2845FC17-3732-4F3A-8D0D-85893C498DC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 b="off" i="off"/>
    </a:band2H>
    <a:band1V>
      <a:tcTxStyle b="off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 b="off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e3e6ea9e4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2e3e6ea9e48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f63107cc17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2f63107cc1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2f63107cc1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python.org/3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cs.python.org/3/tutorial/floatingpoint.ht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ocs.python.org/3/reference/expressions.html" TargetMode="External"/><Relationship Id="rId4" Type="http://schemas.openxmlformats.org/officeDocument/2006/relationships/hyperlink" Target="https://docs.python.org/3/reference/expressions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Beginning Programming with Python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By 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Beginning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457200" y="1600200"/>
            <a:ext cx="8229600" cy="5105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use the python shell?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(using terminal prompt)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use IDE 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check python documentation 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Install new libraries 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accept user input?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show output to user?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are literals?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are variables?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Python Keywords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Built-in functions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Basic Operators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23"/>
              <a:buFont typeface="Calibri"/>
              <a:buNone/>
            </a:pPr>
            <a:r>
              <a:rPr lang="en-US"/>
              <a:t>How to use Python shell?</a:t>
            </a:r>
            <a:br>
              <a:rPr lang="en-US"/>
            </a:br>
            <a:r>
              <a:rPr lang="en-US" sz="3100"/>
              <a:t>Using terminal prompt</a:t>
            </a:r>
            <a:endParaRPr sz="3100"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457200" y="15240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Open terminal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Type command ‘python3’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Then python shell is shown (&gt;&gt;&gt;)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is like command prompt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line / command is executed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Cannot store multiple 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Cannot write a program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So, not preferred by programmers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Note: Another way to execute a single python command is type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python3 –c “&lt;command&gt;”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457200" y="988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to Use IDE?</a:t>
            </a:r>
            <a:endParaRPr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243475" y="1241825"/>
            <a:ext cx="8724600" cy="54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2766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IDE : integrated Development Environment</a:t>
            </a:r>
            <a:endParaRPr/>
          </a:p>
          <a:p>
            <a:pPr indent="-272414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Can edit, save , run codes</a:t>
            </a:r>
            <a:endParaRPr/>
          </a:p>
          <a:p>
            <a:pPr indent="-272414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Create multiple programs</a:t>
            </a:r>
            <a:endParaRPr/>
          </a:p>
          <a:p>
            <a:pPr indent="-32766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VS Code IDE</a:t>
            </a:r>
            <a:endParaRPr/>
          </a:p>
          <a:p>
            <a:pPr indent="-272414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Popular in industry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Support for multiple language development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First need to install miniconda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Then need to install extension (pylance) to run python3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Use Open Folder option to open folder and then open desired file to run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Shortcut keys: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New file ( Ctrl + N)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Run file ( Ctrl + F5)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Run selected lines / current line ( Ctrl + Enter )</a:t>
            </a:r>
            <a:endParaRPr/>
          </a:p>
          <a:p>
            <a:pPr indent="-223201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Start Debugger ( F5)</a:t>
            </a:r>
            <a:endParaRPr/>
          </a:p>
          <a:p>
            <a:pPr indent="-134619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How to check python documentation ?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Open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https://docs.python.org/3/</a:t>
            </a:r>
            <a:r>
              <a:rPr lang="en-US"/>
              <a:t>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Left top select the version of python for reading documentation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Check tutorials, library reference, etc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457200" y="155997"/>
            <a:ext cx="82296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to install new libraries?</a:t>
            </a:r>
            <a:endParaRPr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457200" y="1074175"/>
            <a:ext cx="8229600" cy="54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Use package manager for python libraries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pip vs conda (anaconda)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With pip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pip install &lt;name of library&gt;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None/>
            </a:pPr>
            <a:r>
              <a:rPr b="1" lang="en-US" sz="2191" u="sng"/>
              <a:t>Note</a:t>
            </a:r>
            <a:r>
              <a:rPr lang="en-US" sz="2191"/>
              <a:t>: you need a virtual environment created and enabled before installing libraries using pip</a:t>
            </a:r>
            <a:endParaRPr sz="2191"/>
          </a:p>
          <a:p>
            <a:pPr indent="0" lvl="0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With Anaconda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Search for library on anaconda website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Get the installation command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Run command using </a:t>
            </a:r>
            <a:r>
              <a:rPr b="1" lang="en-US"/>
              <a:t>ANACONDA Prompt</a:t>
            </a:r>
            <a:endParaRPr b="1"/>
          </a:p>
          <a:p>
            <a:pPr indent="-2222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Char char="–"/>
            </a:pPr>
            <a:r>
              <a:rPr b="1" lang="en-US"/>
              <a:t>conda install &lt;name of the library&gt;</a:t>
            </a:r>
            <a:endParaRPr b="1"/>
          </a:p>
          <a:p>
            <a:pPr indent="0" lvl="0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457200" y="96672"/>
            <a:ext cx="82296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to accept user input?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457200" y="1109776"/>
            <a:ext cx="8229600" cy="5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12419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 input() function</a:t>
            </a:r>
            <a:endParaRPr/>
          </a:p>
          <a:p>
            <a:pPr indent="-312419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Input function shows given message to the user and accepts value(s) from user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Value is accepted from standard input stream ( console)</a:t>
            </a:r>
            <a:endParaRPr/>
          </a:p>
          <a:p>
            <a:pPr indent="-312419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returns accepted value in form of a string</a:t>
            </a:r>
            <a:endParaRPr/>
          </a:p>
          <a:p>
            <a:pPr indent="-312419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Returned value needs to be stored in a variable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name = input(“Enter your name”)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Here first user will be shown given message, then user’s name will be accepted</a:t>
            </a:r>
            <a:endParaRPr/>
          </a:p>
          <a:p>
            <a:pPr indent="-243522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Accepting a number (int / float)</a:t>
            </a:r>
            <a:endParaRPr/>
          </a:p>
          <a:p>
            <a:pPr indent="-317182" lvl="1" marL="9144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num = int(input(“Enter an integer”))</a:t>
            </a:r>
            <a:endParaRPr/>
          </a:p>
          <a:p>
            <a:pPr indent="-317182" lvl="1" marL="9144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f1 = float(input(“Enter a floating value”))</a:t>
            </a:r>
            <a:endParaRPr/>
          </a:p>
          <a:p>
            <a:pPr indent="-317182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Accenting text (string) </a:t>
            </a:r>
            <a:endParaRPr/>
          </a:p>
          <a:p>
            <a:pPr indent="-317182" lvl="1" marL="9144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name = input(“Enter your name”)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to show output to user?</a:t>
            </a:r>
            <a:endParaRPr/>
          </a:p>
        </p:txBody>
      </p:sp>
      <p:sp>
        <p:nvSpPr>
          <p:cNvPr id="131" name="Google Shape;131;p8"/>
          <p:cNvSpPr txBox="1"/>
          <p:nvPr>
            <p:ph idx="1" type="body"/>
          </p:nvPr>
        </p:nvSpPr>
        <p:spPr>
          <a:xfrm>
            <a:off x="304800" y="1524000"/>
            <a:ext cx="88392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312419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Output / messages can be shown using print() function</a:t>
            </a:r>
            <a:endParaRPr/>
          </a:p>
          <a:p>
            <a:pPr indent="-312419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Print() function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Print given string message, variables to standard output stream (console)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Multiple strings, variables can be given</a:t>
            </a:r>
            <a:endParaRPr/>
          </a:p>
          <a:p>
            <a:pPr indent="-205739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Ex. print(“my_var1=”, my_var1, ”my_var2=”,my_var2)</a:t>
            </a:r>
            <a:endParaRPr/>
          </a:p>
          <a:p>
            <a:pPr indent="-312419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Two important parameters: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sep  -&gt; string used to separate multiple values 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end  -&gt; string appended at the end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Default value of sep=‘ ‘ (space)  and end =‘\n’ (new line)</a:t>
            </a:r>
            <a:endParaRPr/>
          </a:p>
          <a:p>
            <a:pPr indent="-317182" lvl="0" marL="4572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What happens if we change ‘sep’ ? # day2 Basic assignment q6</a:t>
            </a:r>
            <a:endParaRPr/>
          </a:p>
          <a:p>
            <a:pPr indent="-317182" lvl="0" marL="4572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What happens if we change end ? # day2 Basic assignment q6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are literals?</a:t>
            </a:r>
            <a:endParaRPr/>
          </a:p>
        </p:txBody>
      </p:sp>
      <p:sp>
        <p:nvSpPr>
          <p:cNvPr id="137" name="Google Shape;13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Has fixed value as written by the programmer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Types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Numeric literals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String literals</a:t>
            </a:r>
            <a:endParaRPr/>
          </a:p>
          <a:p>
            <a:pPr indent="-762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type="title"/>
          </p:nvPr>
        </p:nvSpPr>
        <p:spPr>
          <a:xfrm>
            <a:off x="457200" y="1524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Types of Literals</a:t>
            </a:r>
            <a:endParaRPr/>
          </a:p>
        </p:txBody>
      </p:sp>
      <p:sp>
        <p:nvSpPr>
          <p:cNvPr id="143" name="Google Shape;143;p10"/>
          <p:cNvSpPr txBox="1"/>
          <p:nvPr>
            <p:ph idx="1" type="body"/>
          </p:nvPr>
        </p:nvSpPr>
        <p:spPr>
          <a:xfrm>
            <a:off x="457200" y="868362"/>
            <a:ext cx="8229600" cy="5989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Numeric Literals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All numbers positive or negative and decimal points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Underscore ‘_’ can be used within and is neglected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Ex. 10_334 is same as 10334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Commas not allowed here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It can’t start with ‘_’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Leading zeros are not allowed for integer literals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Ex. X=002 -&gt; Error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‘e’ can be used for exponential notation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-100, 2.3, 2e2, etc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en-US" u="sng"/>
              <a:t>Limits</a:t>
            </a:r>
            <a:r>
              <a:rPr lang="en-US"/>
              <a:t>: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/>
              <a:t>integers</a:t>
            </a:r>
            <a:r>
              <a:rPr lang="en-US"/>
              <a:t> have no limit in python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</a:t>
            </a:r>
            <a:r>
              <a:rPr i="1" lang="en-US"/>
              <a:t>floating</a:t>
            </a:r>
            <a:r>
              <a:rPr lang="en-US"/>
              <a:t> point 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10^-308 to 10^+308 with 16 to 17 digits of precision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Beyond this limit there is arithmetic overflow (inf) or arithmetic underflow (0.0) values assigned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Literals</a:t>
            </a:r>
            <a:endParaRPr/>
          </a:p>
        </p:txBody>
      </p:sp>
      <p:sp>
        <p:nvSpPr>
          <p:cNvPr id="149" name="Google Shape;14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String Literals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Can contain any ASCII characters (UTF-8)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Surrounded by single or double quotes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Triple quotes can be used for multi-line string ( a.k.a doc string or multi line comment)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Can contain spaces and tabs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ASCII characters are used to represent ENGLISH other languages are supported using Unicode values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Special Characters : \n and \t when used inside string literal will act as new line and tab</a:t>
            </a:r>
            <a:endParaRPr/>
          </a:p>
          <a:p>
            <a:pPr indent="-121284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533400" y="381000"/>
            <a:ext cx="78867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What are Variables in Python?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253219" y="895801"/>
            <a:ext cx="8693834" cy="59621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rmAutofit fontScale="55000" lnSpcReduction="20000"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ct val="92561"/>
              <a:buChar char="•"/>
            </a:pPr>
            <a:r>
              <a:rPr lang="en-US" sz="5500"/>
              <a:t>Variables are used to store different types of values which can be used in a program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ct val="92561"/>
              <a:buChar char="•"/>
            </a:pPr>
            <a:r>
              <a:rPr lang="en-US" sz="5500"/>
              <a:t>In python variable is created in memory when a value is assigned to a variable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ct val="103896"/>
              <a:buChar char="–"/>
            </a:pPr>
            <a:r>
              <a:rPr lang="en-US" sz="4200"/>
              <a:t>Ex: my_var=10  #creates a variable with name my_var</a:t>
            </a:r>
            <a:endParaRPr sz="4200"/>
          </a:p>
          <a:p>
            <a:pPr indent="-342900" lvl="0" marL="342900" rtl="0" algn="l">
              <a:lnSpc>
                <a:spcPct val="11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ct val="92561"/>
              <a:buChar char="•"/>
            </a:pPr>
            <a:r>
              <a:rPr lang="en-US" sz="5500"/>
              <a:t>No need to define a variable with its data type (like C / C++)</a:t>
            </a:r>
            <a:endParaRPr/>
          </a:p>
          <a:p>
            <a:pPr indent="-181449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1210"/>
              <a:buChar char="–"/>
            </a:pPr>
            <a:r>
              <a:rPr lang="en-US" sz="4200"/>
              <a:t>Data type of variables are dynamic in python and decided based on contents, its called as </a:t>
            </a:r>
            <a:r>
              <a:rPr b="1" i="1" lang="en-US" sz="4200" u="sng"/>
              <a:t>Duck typing</a:t>
            </a:r>
            <a:endParaRPr/>
          </a:p>
          <a:p>
            <a:pPr indent="-1814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5702"/>
              <a:buChar char="–"/>
            </a:pPr>
            <a:r>
              <a:rPr lang="en-US" sz="4400"/>
              <a:t>Any variable can store any type of contents</a:t>
            </a:r>
            <a:endParaRPr/>
          </a:p>
          <a:p>
            <a:pPr indent="-1814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5702"/>
              <a:buChar char="–"/>
            </a:pPr>
            <a:r>
              <a:rPr lang="en-US" sz="4400"/>
              <a:t>Python never checks data types of variable before doing an operation</a:t>
            </a:r>
            <a:endParaRPr/>
          </a:p>
          <a:p>
            <a:pPr indent="-1814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5702"/>
              <a:buChar char="–"/>
            </a:pPr>
            <a:r>
              <a:rPr lang="en-US" sz="4400"/>
              <a:t>Variable can be having annotation </a:t>
            </a:r>
            <a:r>
              <a:rPr b="1" lang="en-US" sz="4400" u="sng"/>
              <a:t>(type hinting) </a:t>
            </a:r>
            <a:r>
              <a:rPr lang="en-US" sz="4400"/>
              <a:t>for their data types </a:t>
            </a:r>
            <a:r>
              <a:rPr b="1" lang="en-US" sz="4400" u="sng"/>
              <a:t>(Python 3.5+)</a:t>
            </a:r>
            <a:endParaRPr/>
          </a:p>
          <a:p>
            <a:pPr indent="-1814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5702"/>
              <a:buChar char="–"/>
            </a:pPr>
            <a:r>
              <a:rPr lang="en-US" sz="4400"/>
              <a:t>Ex. my_var1 : int = 100</a:t>
            </a:r>
            <a:endParaRPr sz="4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type="title"/>
          </p:nvPr>
        </p:nvSpPr>
        <p:spPr>
          <a:xfrm>
            <a:off x="628650" y="228600"/>
            <a:ext cx="7886700" cy="719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 txBox="1"/>
          <p:nvPr>
            <p:ph idx="1" type="body"/>
          </p:nvPr>
        </p:nvSpPr>
        <p:spPr>
          <a:xfrm>
            <a:off x="304800" y="947977"/>
            <a:ext cx="8610600" cy="5757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2561"/>
              <a:buChar char="•"/>
            </a:pPr>
            <a:r>
              <a:rPr lang="en-US" sz="5500"/>
              <a:t>Naming of variables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ct val="103896"/>
              <a:buChar char="–"/>
            </a:pPr>
            <a:r>
              <a:rPr lang="en-US" sz="4200"/>
              <a:t>Case sensitive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ct val="103896"/>
              <a:buChar char="–"/>
            </a:pPr>
            <a:r>
              <a:rPr lang="en-US" sz="4200"/>
              <a:t>Can use underscore ( no other special characters allowed)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ct val="103896"/>
              <a:buChar char="–"/>
            </a:pPr>
            <a:r>
              <a:rPr lang="en-US" sz="4200"/>
              <a:t>Don’t use keywords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ct val="103896"/>
              <a:buChar char="–"/>
            </a:pPr>
            <a:r>
              <a:rPr lang="en-US" sz="4200"/>
              <a:t>Don’t use built-in function names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462"/>
              </a:spcBef>
              <a:spcAft>
                <a:spcPts val="0"/>
              </a:spcAft>
              <a:buClr>
                <a:schemeClr val="dk1"/>
              </a:buClr>
              <a:buSzPct val="103896"/>
              <a:buChar char="–"/>
            </a:pPr>
            <a:r>
              <a:rPr lang="en-US" sz="4200"/>
              <a:t>Ex. _var1=100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0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4600"/>
              <a:t>Error: Using undefined (unassigned) variable gives NameError</a:t>
            </a:r>
            <a:endParaRPr sz="4600"/>
          </a:p>
          <a:p>
            <a:pPr indent="-231140" lvl="0" marL="342900" rtl="0" algn="l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0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4600"/>
              <a:t>Memory Allocation to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3600"/>
              <a:t>Memory is allocated automatically by PVM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3600"/>
              <a:t>Reference of variable is stored on stack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3600"/>
              <a:t>Value is stored on Heap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3600"/>
              <a:t>id() gives identity (address of the object in memory)</a:t>
            </a:r>
            <a:endParaRPr sz="3600"/>
          </a:p>
          <a:p>
            <a:pPr indent="-187959" lvl="1" marL="742950" rtl="0" algn="l">
              <a:lnSpc>
                <a:spcPct val="100000"/>
              </a:lnSpc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4500"/>
              <a:t>Memory de-allocation of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3600"/>
              <a:t>Automatically memory is de-allocated using garbage collector (GC)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Variables</a:t>
            </a:r>
            <a:endParaRPr/>
          </a:p>
        </p:txBody>
      </p:sp>
      <p:sp>
        <p:nvSpPr>
          <p:cNvPr id="167" name="Google Shape;16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Graphical representation of memory allocation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Var1 =10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Var2 = Var1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Where 10 is stored?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Where Var1, Var2 is stored 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 are contents of Var2 ?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594014" y="457200"/>
            <a:ext cx="7886700" cy="714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Python Keywords</a:t>
            </a:r>
            <a:endParaRPr/>
          </a:p>
        </p:txBody>
      </p:sp>
      <p:sp>
        <p:nvSpPr>
          <p:cNvPr id="173" name="Google Shape;173;p15"/>
          <p:cNvSpPr txBox="1"/>
          <p:nvPr>
            <p:ph idx="1" type="body"/>
          </p:nvPr>
        </p:nvSpPr>
        <p:spPr>
          <a:xfrm>
            <a:off x="628650" y="5181600"/>
            <a:ext cx="7886700" cy="597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2400"/>
              <a:t>import keyword as k</a:t>
            </a:r>
            <a:endParaRPr sz="54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2400"/>
              <a:t>print(k.kwlist)</a:t>
            </a:r>
            <a:endParaRPr sz="54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2400"/>
              <a:t>k.iskeyword(word)</a:t>
            </a:r>
            <a:endParaRPr sz="2400"/>
          </a:p>
        </p:txBody>
      </p:sp>
      <p:pic>
        <p:nvPicPr>
          <p:cNvPr id="174" name="Google Shape;1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524000"/>
            <a:ext cx="83820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80" name="Google Shape;1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8991600" cy="6704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584687" y="228600"/>
            <a:ext cx="7886700" cy="420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Basic Operators</a:t>
            </a:r>
            <a:endParaRPr/>
          </a:p>
        </p:txBody>
      </p:sp>
      <p:graphicFrame>
        <p:nvGraphicFramePr>
          <p:cNvPr id="186" name="Google Shape;186;p17"/>
          <p:cNvGraphicFramePr/>
          <p:nvPr/>
        </p:nvGraphicFramePr>
        <p:xfrm>
          <a:off x="146537" y="83820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{A65673F3-8677-4D4A-8471-EC2214972419}</a:tableStyleId>
              </a:tblPr>
              <a:tblGrid>
                <a:gridCol w="4415275"/>
                <a:gridCol w="4347725"/>
              </a:tblGrid>
              <a:tr h="14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rPr lang="en-US" sz="2100" u="none" cap="none" strike="noStrike"/>
                        <a:t>Operator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rPr lang="en-US" sz="2100" u="none" cap="none" strike="noStrike"/>
                        <a:t>Description</a:t>
                      </a:r>
                      <a:endParaRPr b="1"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5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(expressions...),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Binding or parenthesized expression, list display, dictionary display, set display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9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[expressions...], {key: value...}, {expressions...}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 vMerge="1"/>
              </a:tr>
              <a:tr h="55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x[index], x[index:index], x(arguments...), x.attribute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Subscription, slicing, call, attribute reference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7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**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Exponential operator (power)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9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+x, -x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Positive, negative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9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~x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bitwise NOT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46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*, /, %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Multiplication, division, remainder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//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Floor division or truncating division (Only integer part of division is retained)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@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Matrix Multiplication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9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+, -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Addition and subtraction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9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&lt;&lt;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left shift -&gt; shift all bits by n positions to left (ex.  4 &lt;&lt; 3  -&gt; 4 * (2^3) 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96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&gt;&gt;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right shift -&gt; shift all bits by n positions to right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(ex. 256 &gt;&gt; 3  -&gt; 256 / (2^3) )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>
            <p:ph type="title"/>
          </p:nvPr>
        </p:nvSpPr>
        <p:spPr>
          <a:xfrm>
            <a:off x="666750" y="76200"/>
            <a:ext cx="7886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Operators</a:t>
            </a:r>
            <a:endParaRPr/>
          </a:p>
        </p:txBody>
      </p:sp>
      <p:graphicFrame>
        <p:nvGraphicFramePr>
          <p:cNvPr id="192" name="Google Shape;192;p18"/>
          <p:cNvGraphicFramePr/>
          <p:nvPr/>
        </p:nvGraphicFramePr>
        <p:xfrm>
          <a:off x="228600" y="77585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{A65673F3-8677-4D4A-8471-EC2214972419}</a:tableStyleId>
              </a:tblPr>
              <a:tblGrid>
                <a:gridCol w="3395600"/>
                <a:gridCol w="5367400"/>
              </a:tblGrid>
              <a:tr h="39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rPr lang="en-US" sz="2100" u="none" cap="none" strike="noStrike"/>
                        <a:t>Operator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Calibri"/>
                        <a:buNone/>
                      </a:pPr>
                      <a:r>
                        <a:rPr lang="en-US" sz="2100" u="none" cap="none" strike="noStrike"/>
                        <a:t>Description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&amp;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Bitwise AND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^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Bitwise XOR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|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Bitwise OR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67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 &lt;, &lt;=, &gt;, &gt;=, !=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Comparisons, including membership tests and identity tests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is, not is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 ‘is’ operator compares the identity of two objects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in, not in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 ‘in’ is a membership operator, ex. ‘x’ in ‘s’ --&gt; to check if given element is present in a sequence ‘s’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==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Check if two values are same or not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not x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Boolean NOT -&gt; reverse value from True to False or False to True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and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Boolean AND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or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Boolean OR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if – else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Conditional expression or Ternary operator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lambda</a:t>
                      </a:r>
                      <a:endParaRPr b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Lambda expression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  <a:tr h="3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=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Assignment expression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71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Expression Evaluation</a:t>
            </a:r>
            <a:endParaRPr/>
          </a:p>
        </p:txBody>
      </p:sp>
      <p:sp>
        <p:nvSpPr>
          <p:cNvPr id="198" name="Google Shape;198;p19"/>
          <p:cNvSpPr txBox="1"/>
          <p:nvPr>
            <p:ph idx="1" type="body"/>
          </p:nvPr>
        </p:nvSpPr>
        <p:spPr>
          <a:xfrm>
            <a:off x="152400" y="1600200"/>
            <a:ext cx="87630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Expression is combination of symbols (operators and operands) which evaluates to a value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Given an expression containing multiple operators how it is evaluated 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4 + 3 * 5  🡪 can be 🡪 7 * 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OR 4 + 3 * 5  🡪 can be 🡪 4 +15  ( This is </a:t>
            </a:r>
            <a:r>
              <a:rPr b="1" lang="en-US">
                <a:solidFill>
                  <a:srgbClr val="00B050"/>
                </a:solidFill>
              </a:rPr>
              <a:t>right</a:t>
            </a:r>
            <a:r>
              <a:rPr lang="en-US"/>
              <a:t> because * has more precedence than + operator)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is decided by </a:t>
            </a:r>
            <a:r>
              <a:rPr b="1" lang="en-US" u="sng"/>
              <a:t>Operator Precedence and Associativity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Precedence</a:t>
            </a:r>
            <a:r>
              <a:rPr lang="en-US"/>
              <a:t> : what is priority of the operator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Associativity</a:t>
            </a:r>
            <a:r>
              <a:rPr lang="en-US"/>
              <a:t>: If two operators of same precedence occur one after the other then which will be executed first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 2 + 3 + 4  -&gt; 5  + 4 ( left to right associativity)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2 ** 3 ** 2  -&gt;  2 ** 9 ( Right to Left associativity)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4724400" y="2971800"/>
            <a:ext cx="304800" cy="304800"/>
          </a:xfrm>
          <a:prstGeom prst="noSmoking">
            <a:avLst>
              <a:gd fmla="val 18750" name="adj"/>
            </a:avLst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type="title"/>
          </p:nvPr>
        </p:nvSpPr>
        <p:spPr>
          <a:xfrm>
            <a:off x="457200" y="0"/>
            <a:ext cx="8229600" cy="884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Operator Precedence and Associativity</a:t>
            </a:r>
            <a:endParaRPr/>
          </a:p>
        </p:txBody>
      </p:sp>
      <p:graphicFrame>
        <p:nvGraphicFramePr>
          <p:cNvPr id="205" name="Google Shape;205;p20"/>
          <p:cNvGraphicFramePr/>
          <p:nvPr/>
        </p:nvGraphicFramePr>
        <p:xfrm>
          <a:off x="4572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{2845FC17-3732-4F3A-8D0D-85893C498DCC}</a:tableStyleId>
              </a:tblPr>
              <a:tblGrid>
                <a:gridCol w="4524475"/>
                <a:gridCol w="3324125"/>
              </a:tblGrid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Operator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Associativity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() parenthesis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**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Right to left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- (negation)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Left to Right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* , / , // , %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Left to Right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+ (addition), -(subtraction) 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Left to Right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&lt; , &gt; , &lt;=, &gt;=, ==, !=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Left to right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not, and , or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Left to Right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 if -  else ( ternary operator)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=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Right to left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6" name="Google Shape;206;p20"/>
          <p:cNvSpPr txBox="1"/>
          <p:nvPr/>
        </p:nvSpPr>
        <p:spPr>
          <a:xfrm>
            <a:off x="609600" y="778501"/>
            <a:ext cx="837710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Following operators are listed in decreasing order of precedence.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Operators on same line have same precedence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PEMDAS rule : Parenthesis, Exponential, Mult &amp; Div, Add &amp; Sub (BODMAS rule)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type="title"/>
          </p:nvPr>
        </p:nvSpPr>
        <p:spPr>
          <a:xfrm>
            <a:off x="457200" y="2895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e3e6ea9e48_0_0"/>
          <p:cNvSpPr txBox="1"/>
          <p:nvPr>
            <p:ph type="title"/>
          </p:nvPr>
        </p:nvSpPr>
        <p:spPr>
          <a:xfrm>
            <a:off x="224050" y="313525"/>
            <a:ext cx="87090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Extra Note About Floating point Arithmetic</a:t>
            </a:r>
            <a:endParaRPr/>
          </a:p>
        </p:txBody>
      </p:sp>
      <p:sp>
        <p:nvSpPr>
          <p:cNvPr id="217" name="Google Shape;217;g2e3e6ea9e48_0_0"/>
          <p:cNvSpPr txBox="1"/>
          <p:nvPr>
            <p:ph idx="1" type="body"/>
          </p:nvPr>
        </p:nvSpPr>
        <p:spPr>
          <a:xfrm>
            <a:off x="457200" y="1563275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NOTE: </a:t>
            </a:r>
            <a:r>
              <a:rPr lang="en-US"/>
              <a:t>while using floating point arithmetic there can be errors introduced due to limitation of hardware floating point representation in binary format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Ex. 1/10 or 0.1 can never be represented in binary format perfectly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1/10 is the infinitely repeating fraction, so always we will have approximate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0.0001100110011001100110011001100110011001100110011... </a:t>
            </a:r>
            <a:endParaRPr sz="1600"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So, 0.1 + 0.1 + 0.1 == 0.3   is False</a:t>
            </a:r>
            <a:endParaRPr sz="1600"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Ref: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https://docs.python.org/3/tutorial/floatingpoint.html</a:t>
            </a:r>
            <a:r>
              <a:rPr lang="en-US" sz="2000"/>
              <a:t>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223" name="Google Shape;223;p22"/>
          <p:cNvSpPr txBox="1"/>
          <p:nvPr>
            <p:ph idx="1" type="body"/>
          </p:nvPr>
        </p:nvSpPr>
        <p:spPr>
          <a:xfrm>
            <a:off x="457200" y="10668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Walrus Operator </a:t>
            </a:r>
            <a:r>
              <a:rPr lang="en-US"/>
              <a:t>(:=) (Python 3.8+)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Also known as assignment expression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Used to assign value to a variable within an expression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(t = 10) &gt; 4  -&gt; Invalid Syntax.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‘=‘ can’t be used inside any expression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(t </a:t>
            </a:r>
            <a:r>
              <a:rPr b="1" lang="en-US"/>
              <a:t>:=</a:t>
            </a:r>
            <a:r>
              <a:rPr lang="en-US"/>
              <a:t> 10) &gt; 4     -&gt; works and results in True, also  t variable will contain value 10 now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Walrus ‘:=‘ operator is allowed within an expression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381000" y="2895600"/>
            <a:ext cx="304800" cy="304800"/>
          </a:xfrm>
          <a:prstGeom prst="noSmoking">
            <a:avLst>
              <a:gd fmla="val 18750" name="adj"/>
            </a:avLst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228600" y="4306311"/>
            <a:ext cx="609600" cy="457200"/>
          </a:xfrm>
          <a:prstGeom prst="lightningBolt">
            <a:avLst/>
          </a:prstGeom>
          <a:gradFill>
            <a:gsLst>
              <a:gs pos="0">
                <a:srgbClr val="759336"/>
              </a:gs>
              <a:gs pos="80000">
                <a:srgbClr val="99C247"/>
              </a:gs>
              <a:gs pos="100000">
                <a:srgbClr val="9BC545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457200" y="152400"/>
            <a:ext cx="8229600" cy="960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231" name="Google Shape;231;p23"/>
          <p:cNvSpPr txBox="1"/>
          <p:nvPr>
            <p:ph idx="1" type="body"/>
          </p:nvPr>
        </p:nvSpPr>
        <p:spPr>
          <a:xfrm>
            <a:off x="228600" y="1112838"/>
            <a:ext cx="8915400" cy="574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u="sng"/>
              <a:t>Working of Boolean Operations — and, or, not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Or , and are </a:t>
            </a:r>
            <a:r>
              <a:rPr b="1" lang="en-US"/>
              <a:t>short-circuit operators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NOTE</a:t>
            </a:r>
            <a:r>
              <a:rPr lang="en-US"/>
              <a:t>: Operation	Results are as follows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x or y	if x is true, then x, else y	(1)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x and y	if x is false, then x, else y	(2)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 x	if x is false, then True, else False	(3)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Notes: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1.	This is a </a:t>
            </a:r>
            <a:r>
              <a:rPr b="1" lang="en-US"/>
              <a:t>short-circuit operator</a:t>
            </a:r>
            <a:r>
              <a:rPr lang="en-US"/>
              <a:t>, so it only evaluates the second argument if the first one is false.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2.	This is a </a:t>
            </a:r>
            <a:r>
              <a:rPr b="1" lang="en-US"/>
              <a:t>short-circuit operator</a:t>
            </a:r>
            <a:r>
              <a:rPr lang="en-US"/>
              <a:t>, so it only evaluates the second argument if the first one is true.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3.	</a:t>
            </a:r>
            <a:r>
              <a:rPr b="1" lang="en-US"/>
              <a:t>not has a lower priority than non-Boolean operators</a:t>
            </a:r>
            <a:r>
              <a:rPr lang="en-US"/>
              <a:t>, so not a == b is interpreted as not (a == b), and a == not b is a syntax error.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237" name="Google Shape;23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u="sng"/>
              <a:t>Working of Comparison operators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There are eight comparison operations in Python. They all have the same priority (which is higher than that of the Boolean operations). Comparisons can be chained arbitrarily; for example, x &lt; y &lt;= z is equivalent to x &lt; y and y &lt;= z, except that y is evaluated only once (but in both cases z is not evaluated at all when x &lt; y is found to be false).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243" name="Google Shape;243;p25"/>
          <p:cNvSpPr txBox="1"/>
          <p:nvPr>
            <p:ph idx="1" type="body"/>
          </p:nvPr>
        </p:nvSpPr>
        <p:spPr>
          <a:xfrm>
            <a:off x="457200" y="12954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behavior of the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is</a:t>
            </a:r>
            <a:r>
              <a:rPr lang="en-US"/>
              <a:t> and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is not</a:t>
            </a:r>
            <a:r>
              <a:rPr lang="en-US"/>
              <a:t> operators cannot be customized; also they can be applied to any two objects and never raise an exception.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Objects of user defined classes cannot be ordered ( &lt;, &gt; &lt;=,&gt;= doesn’t work) unless User class defines such methods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objects of two different classes are checked for equality (==) then internally they are checked for identity(is)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S1=“abc”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S2=10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S1 == S2  🡪 same as ‘is’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f63107cc17_0_0"/>
          <p:cNvSpPr txBox="1"/>
          <p:nvPr>
            <p:ph type="title"/>
          </p:nvPr>
        </p:nvSpPr>
        <p:spPr>
          <a:xfrm>
            <a:off x="537425" y="134272"/>
            <a:ext cx="82296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250" name="Google Shape;250;g2f63107cc17_0_0"/>
          <p:cNvSpPr txBox="1"/>
          <p:nvPr>
            <p:ph idx="1" type="body"/>
          </p:nvPr>
        </p:nvSpPr>
        <p:spPr>
          <a:xfrm>
            <a:off x="284075" y="949075"/>
            <a:ext cx="8662800" cy="56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None/>
            </a:pPr>
            <a:r>
              <a:rPr lang="en-US"/>
              <a:t>Pre-Increment and Post-increment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++a and a++ 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This is not supported in python and gives syntax error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None/>
            </a:pPr>
            <a:r>
              <a:rPr lang="en-US"/>
              <a:t>Pre-decrement and Post-decrement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- - a and a- - 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This is not supported in python and </a:t>
            </a:r>
            <a:r>
              <a:rPr b="1" lang="en-US">
                <a:solidFill>
                  <a:srgbClr val="FF0000"/>
                </a:solidFill>
              </a:rPr>
              <a:t>gives syntax error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None/>
            </a:pPr>
            <a:r>
              <a:rPr b="1" lang="en-US" u="sng"/>
              <a:t>Special Case</a:t>
            </a:r>
            <a:endParaRPr b="1" u="sng"/>
          </a:p>
          <a:p>
            <a:pPr indent="-32575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-"/>
            </a:pPr>
            <a:r>
              <a:rPr b="1" lang="en-US" u="sng"/>
              <a:t>If above operations used inside an expression then</a:t>
            </a:r>
            <a:endParaRPr b="1" u="sng"/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b="1" lang="en-US" u="sng"/>
              <a:t>1. There is </a:t>
            </a:r>
            <a:r>
              <a:rPr b="1" lang="en-US" u="sng">
                <a:solidFill>
                  <a:srgbClr val="0000FF"/>
                </a:solidFill>
              </a:rPr>
              <a:t>no operation and no error</a:t>
            </a:r>
            <a:endParaRPr b="1" u="sng">
              <a:solidFill>
                <a:srgbClr val="0000FF"/>
              </a:solidFill>
            </a:endParaRPr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b="1" lang="en-US" u="sng"/>
              <a:t>y = a++ + b </a:t>
            </a:r>
            <a:r>
              <a:rPr lang="en-US"/>
              <a:t> → There is no error and value of ‘a’ doesn’t change </a:t>
            </a:r>
            <a:endParaRPr/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2. There is </a:t>
            </a:r>
            <a:r>
              <a:rPr b="1" lang="en-US" u="sng"/>
              <a:t>ERROR if ‘++’ or ‘--’ is last operation in expression</a:t>
            </a:r>
            <a:endParaRPr b="1" u="sng"/>
          </a:p>
          <a:p>
            <a:pPr indent="-3257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y = b + a++  —&gt;</a:t>
            </a:r>
            <a:r>
              <a:rPr b="1" lang="en-US">
                <a:solidFill>
                  <a:srgbClr val="FF0000"/>
                </a:solidFill>
              </a:rPr>
              <a:t> ERROR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cdacstaff</dc:creator>
</cp:coreProperties>
</file>