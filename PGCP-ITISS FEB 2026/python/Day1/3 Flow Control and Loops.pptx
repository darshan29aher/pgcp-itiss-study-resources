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48xQ5AapVtbU5UIH/hiuH0NB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python.org/3/tutorial/datastructures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Flow Control and Loops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program execution flow happens?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CPU executes program line by line sequentially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Flow is changed by special type of instructions / commands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Selection Control -&gt; using conditions, select a block of code ( like if else)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Iterative Control -&gt; repeatedly execute a block of code ( like while, for)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Branch Control -&gt; separately execute block of code in a function ( will learn later)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90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Selection Control                  Iterative Control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234545" y="2286216"/>
            <a:ext cx="3962400" cy="9144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Loop Condition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719454" y="4153007"/>
            <a:ext cx="2992582" cy="80356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Loop Code Block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9490363" y="6116238"/>
            <a:ext cx="2438400" cy="67887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Remaining Program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8198488" y="3276472"/>
            <a:ext cx="13484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10510365" y="2107115"/>
            <a:ext cx="11528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3"/>
          <p:cNvCxnSpPr>
            <a:endCxn id="97" idx="0"/>
          </p:cNvCxnSpPr>
          <p:nvPr/>
        </p:nvCxnSpPr>
        <p:spPr>
          <a:xfrm>
            <a:off x="8215745" y="1690716"/>
            <a:ext cx="0" cy="595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3" name="Google Shape;103;p3"/>
          <p:cNvSpPr/>
          <p:nvPr/>
        </p:nvSpPr>
        <p:spPr>
          <a:xfrm>
            <a:off x="1011381" y="2286216"/>
            <a:ext cx="3962400" cy="914400"/>
          </a:xfrm>
          <a:prstGeom prst="diamond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Condition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65018" y="3864238"/>
            <a:ext cx="1482437" cy="86016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 Block of if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882268" y="3864238"/>
            <a:ext cx="1482437" cy="86016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Code Block of else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2992581" y="1690688"/>
            <a:ext cx="0" cy="5955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" name="Google Shape;107;p3"/>
          <p:cNvSpPr/>
          <p:nvPr/>
        </p:nvSpPr>
        <p:spPr>
          <a:xfrm>
            <a:off x="1773381" y="5548745"/>
            <a:ext cx="2438400" cy="67887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Remaining Program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 rot="-5400000">
            <a:off x="5469760" y="3466636"/>
            <a:ext cx="1980983" cy="534541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 rot="5400000">
            <a:off x="8859490" y="4060031"/>
            <a:ext cx="3434628" cy="69272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951275" y="3200616"/>
            <a:ext cx="398380" cy="9523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08087" y="2808863"/>
            <a:ext cx="398380" cy="9523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3760447" y="3047094"/>
            <a:ext cx="11528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57780" y="2810395"/>
            <a:ext cx="398380" cy="9523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038747" y="2968906"/>
            <a:ext cx="13484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016555" y="1283180"/>
            <a:ext cx="398380" cy="9523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2793391" y="1283180"/>
            <a:ext cx="398380" cy="9523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 rot="-2321413">
            <a:off x="1476887" y="4725926"/>
            <a:ext cx="398380" cy="9523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 rot="3113762">
            <a:off x="3944100" y="4725925"/>
            <a:ext cx="398380" cy="9523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26"/>
          <p:cNvGrpSpPr/>
          <p:nvPr/>
        </p:nvGrpSpPr>
        <p:grpSpPr>
          <a:xfrm>
            <a:off x="3154660" y="721629"/>
            <a:ext cx="5882679" cy="5414739"/>
            <a:chOff x="1122660" y="1963"/>
            <a:chExt cx="5882679" cy="5414739"/>
          </a:xfrm>
        </p:grpSpPr>
        <p:sp>
          <p:nvSpPr>
            <p:cNvPr id="124" name="Google Shape;124;p26"/>
            <p:cNvSpPr/>
            <p:nvPr/>
          </p:nvSpPr>
          <p:spPr>
            <a:xfrm>
              <a:off x="3796605" y="2709333"/>
              <a:ext cx="534789" cy="229959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487AA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5" name="Google Shape;125;p26"/>
            <p:cNvSpPr/>
            <p:nvPr/>
          </p:nvSpPr>
          <p:spPr>
            <a:xfrm>
              <a:off x="3796605" y="2709333"/>
              <a:ext cx="534789" cy="1149796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rgbClr val="487AA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6" name="Google Shape;126;p26"/>
            <p:cNvSpPr/>
            <p:nvPr/>
          </p:nvSpPr>
          <p:spPr>
            <a:xfrm>
              <a:off x="3796605" y="2663613"/>
              <a:ext cx="534789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487AA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7" name="Google Shape;127;p26"/>
            <p:cNvSpPr/>
            <p:nvPr/>
          </p:nvSpPr>
          <p:spPr>
            <a:xfrm>
              <a:off x="3796605" y="1559537"/>
              <a:ext cx="534789" cy="1149796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25400">
              <a:solidFill>
                <a:srgbClr val="487AA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8" name="Google Shape;128;p26"/>
            <p:cNvSpPr/>
            <p:nvPr/>
          </p:nvSpPr>
          <p:spPr>
            <a:xfrm>
              <a:off x="3796605" y="409740"/>
              <a:ext cx="534789" cy="2299592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25400">
              <a:solidFill>
                <a:srgbClr val="487AA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9" name="Google Shape;129;p26"/>
            <p:cNvSpPr/>
            <p:nvPr/>
          </p:nvSpPr>
          <p:spPr>
            <a:xfrm>
              <a:off x="1122660" y="2301556"/>
              <a:ext cx="2673945" cy="815553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 txBox="1"/>
            <p:nvPr/>
          </p:nvSpPr>
          <p:spPr>
            <a:xfrm>
              <a:off x="1122660" y="2301556"/>
              <a:ext cx="2673945" cy="8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20950" spcFirstLastPara="1" rIns="20950" wrap="square" tIns="2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match pattern</a:t>
              </a:r>
              <a:endPara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4331394" y="1963"/>
              <a:ext cx="2673945" cy="815553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6"/>
            <p:cNvSpPr txBox="1"/>
            <p:nvPr/>
          </p:nvSpPr>
          <p:spPr>
            <a:xfrm>
              <a:off x="4331394" y="1963"/>
              <a:ext cx="2673945" cy="8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20950" spcFirstLastPara="1" rIns="20950" wrap="square" tIns="2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Pattern 1</a:t>
              </a:r>
              <a:endPara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4331394" y="1151760"/>
              <a:ext cx="2673945" cy="815553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6"/>
            <p:cNvSpPr txBox="1"/>
            <p:nvPr/>
          </p:nvSpPr>
          <p:spPr>
            <a:xfrm>
              <a:off x="4331394" y="1151760"/>
              <a:ext cx="2673945" cy="8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20950" spcFirstLastPara="1" rIns="20950" wrap="square" tIns="2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Pattern 2</a:t>
              </a:r>
              <a:endPara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4331394" y="2301556"/>
              <a:ext cx="2673945" cy="815553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6"/>
            <p:cNvSpPr txBox="1"/>
            <p:nvPr/>
          </p:nvSpPr>
          <p:spPr>
            <a:xfrm>
              <a:off x="4331394" y="2301556"/>
              <a:ext cx="2673945" cy="8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20950" spcFirstLastPara="1" rIns="20950" wrap="square" tIns="2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Pattern 3</a:t>
              </a:r>
              <a:endPara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4331394" y="3451353"/>
              <a:ext cx="2673945" cy="815553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6"/>
            <p:cNvSpPr txBox="1"/>
            <p:nvPr/>
          </p:nvSpPr>
          <p:spPr>
            <a:xfrm>
              <a:off x="4331394" y="3451353"/>
              <a:ext cx="2673945" cy="8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20950" spcFirstLastPara="1" rIns="20950" wrap="square" tIns="2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4331394" y="4601149"/>
              <a:ext cx="2673945" cy="815553"/>
            </a:xfrm>
            <a:prstGeom prst="rect">
              <a:avLst/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6"/>
            <p:cNvSpPr txBox="1"/>
            <p:nvPr/>
          </p:nvSpPr>
          <p:spPr>
            <a:xfrm>
              <a:off x="4331394" y="4601149"/>
              <a:ext cx="2673945" cy="815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950" lIns="20950" spcFirstLastPara="1" rIns="20950" wrap="square" tIns="2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_ (wildcard)</a:t>
              </a:r>
              <a:endPara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6"/>
          <p:cNvSpPr txBox="1"/>
          <p:nvPr>
            <p:ph type="title"/>
          </p:nvPr>
        </p:nvSpPr>
        <p:spPr>
          <a:xfrm>
            <a:off x="838200" y="365125"/>
            <a:ext cx="10515600" cy="905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Selection Control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Indentation in Python</a:t>
            </a:r>
            <a:endParaRPr/>
          </a:p>
        </p:txBody>
      </p:sp>
      <p:sp>
        <p:nvSpPr>
          <p:cNvPr id="147" name="Google Shape;147;p4"/>
          <p:cNvSpPr txBox="1"/>
          <p:nvPr>
            <p:ph idx="1" type="body"/>
          </p:nvPr>
        </p:nvSpPr>
        <p:spPr>
          <a:xfrm>
            <a:off x="166260" y="1825625"/>
            <a:ext cx="11998036" cy="4893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Indentation means arranging code line at right position from the start of the line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                                                                                      Here black arrow give </a:t>
            </a:r>
            <a:r>
              <a:rPr b="1" lang="en-US"/>
              <a:t>0 tab (0 spaces)</a:t>
            </a:r>
            <a:r>
              <a:rPr lang="en-US"/>
              <a:t>									indentation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						         blue arrow gives </a:t>
            </a:r>
            <a:r>
              <a:rPr b="1" lang="en-US"/>
              <a:t>1 tab (4 spaces) </a:t>
            </a:r>
            <a:r>
              <a:rPr lang="en-US"/>
              <a:t>										indentation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						          Green arrow gives </a:t>
            </a:r>
            <a:r>
              <a:rPr b="1" lang="en-US"/>
              <a:t>2 tab (8 spaces)</a:t>
            </a:r>
            <a:r>
              <a:rPr lang="en-US"/>
              <a:t>									indentation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Python proper indentation is </a:t>
            </a:r>
            <a:r>
              <a:rPr b="1" lang="en-US" u="sng"/>
              <a:t>compulsory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Python preferred indentation is 4 spaces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VS Code you can set indent characters as 4 spaces or other value</a:t>
            </a:r>
            <a:endParaRPr/>
          </a:p>
          <a:p>
            <a:pPr indent="-23812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(Settings -&gt; Commonly Used -&gt; Tab Size -&gt; Set value to 4)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After header ( if / for / while , etc) next line should be indented</a:t>
            </a:r>
            <a:endParaRPr/>
          </a:p>
        </p:txBody>
      </p:sp>
      <p:pic>
        <p:nvPicPr>
          <p:cNvPr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428" y="2776451"/>
            <a:ext cx="4439651" cy="99366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2286000" y="3475564"/>
            <a:ext cx="540327" cy="42949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887943" y="3769826"/>
            <a:ext cx="540327" cy="42949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642492" y="3198472"/>
            <a:ext cx="540327" cy="42949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Flow Control</a:t>
            </a:r>
            <a:endParaRPr/>
          </a:p>
        </p:txBody>
      </p:sp>
      <p:sp>
        <p:nvSpPr>
          <p:cNvPr id="157" name="Google Shape;15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- else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If- elif-else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Ternary Operator ( if – else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&lt;True_value&gt;   if   &lt;condition&gt;   else    &lt;false_value&gt;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8135"/>
              </a:buClr>
              <a:buSzPct val="100000"/>
              <a:buChar char="•"/>
            </a:pPr>
            <a:r>
              <a:rPr b="1" i="1" lang="en-US" u="sng">
                <a:solidFill>
                  <a:srgbClr val="548135"/>
                </a:solidFill>
              </a:rPr>
              <a:t>Observer code indentation!</a:t>
            </a:r>
            <a:endParaRPr b="1" i="1" u="sng">
              <a:solidFill>
                <a:srgbClr val="548135"/>
              </a:solidFill>
            </a:endParaRPr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769" y="751642"/>
            <a:ext cx="2286319" cy="552527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59" name="Google Shape;1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7770" y="1617803"/>
            <a:ext cx="2286319" cy="1171739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60" name="Google Shape;1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1624" y="3182094"/>
            <a:ext cx="3105583" cy="1657581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7769" y="5403727"/>
            <a:ext cx="3762900" cy="847843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757050" y="108222"/>
            <a:ext cx="105156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Flow control : Conditions</a:t>
            </a:r>
            <a:endParaRPr/>
          </a:p>
        </p:txBody>
      </p:sp>
      <p:sp>
        <p:nvSpPr>
          <p:cNvPr id="167" name="Google Shape;167;p6"/>
          <p:cNvSpPr txBox="1"/>
          <p:nvPr>
            <p:ph idx="1" type="body"/>
          </p:nvPr>
        </p:nvSpPr>
        <p:spPr>
          <a:xfrm>
            <a:off x="838200" y="1082025"/>
            <a:ext cx="10515600" cy="5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Any logical  statement can be condition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a==b , a != 6 , etc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Comparisons can be chained.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For example, a &lt; b == c tests whether a is less than b and moreover b equals c.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Comparisons in sequences is special case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 sequence is object data type containing more than one value ( ex. String, List, tuple, etc)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First elements of both sequences is compared, continuing to further elements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If any two elements not match then return false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uses </a:t>
            </a:r>
            <a:r>
              <a:rPr i="1" lang="en-US"/>
              <a:t>lexicographical</a:t>
            </a:r>
            <a:r>
              <a:rPr lang="en-US"/>
              <a:t> ordering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Ref : </a:t>
            </a:r>
            <a:r>
              <a:rPr lang="en-US" sz="1800"/>
              <a:t>5.8. Comparing Sequences and Other Types in link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https://docs.python.org/3/tutorial/datastructures.html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type="title"/>
          </p:nvPr>
        </p:nvSpPr>
        <p:spPr>
          <a:xfrm>
            <a:off x="838200" y="365125"/>
            <a:ext cx="10515600" cy="895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Flow control : Conditions</a:t>
            </a:r>
            <a:endParaRPr/>
          </a:p>
        </p:txBody>
      </p:sp>
      <p:sp>
        <p:nvSpPr>
          <p:cNvPr id="173" name="Google Shape;173;p7"/>
          <p:cNvSpPr txBox="1"/>
          <p:nvPr>
            <p:ph idx="1" type="body"/>
          </p:nvPr>
        </p:nvSpPr>
        <p:spPr>
          <a:xfrm>
            <a:off x="374073" y="1260764"/>
            <a:ext cx="10979727" cy="5264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Truth Value of Expressions: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Following built-in objects are considered </a:t>
            </a:r>
            <a:r>
              <a:rPr b="1" lang="en-US" u="sng"/>
              <a:t>False</a:t>
            </a:r>
            <a:r>
              <a:rPr lang="en-US"/>
              <a:t>: ( in a condition)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constants defined to be false: None and False.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zero of any numeric type: 0, 0.0, 0j, decimal.Decimal(0), fractions.Fraction(0, 1)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empty sequences and collections: '', (), [], {}, set(), range(0)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Operations and built-in functions that have a Boolean result always return 0 or False for false and 1 or True for true, unless otherwise stated.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i="1" lang="en-US" u="sng"/>
              <a:t>Important exception:</a:t>
            </a:r>
            <a:r>
              <a:rPr lang="en-US"/>
              <a:t> the Boolean operations ‘</a:t>
            </a:r>
            <a:r>
              <a:rPr b="1" lang="en-US"/>
              <a:t>or’</a:t>
            </a:r>
            <a:r>
              <a:rPr lang="en-US"/>
              <a:t> and ‘</a:t>
            </a:r>
            <a:r>
              <a:rPr b="1" lang="en-US"/>
              <a:t>and’</a:t>
            </a:r>
            <a:r>
              <a:rPr lang="en-US"/>
              <a:t> always return one of their operands.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Boolean ‘or’, ‘and’ are short circuit operators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Loops in Python</a:t>
            </a:r>
            <a:endParaRPr/>
          </a:p>
        </p:txBody>
      </p:sp>
      <p:sp>
        <p:nvSpPr>
          <p:cNvPr id="179" name="Google Shape;17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an important part of any programming language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Python provides various ways of looping,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else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While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While else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Innovatively python provides 'else' along with these loops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'else' part will be used when complete loop executes without any break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While Loop and While-else</a:t>
            </a:r>
            <a:endParaRPr/>
          </a:p>
        </p:txBody>
      </p:sp>
      <p:sp>
        <p:nvSpPr>
          <p:cNvPr id="185" name="Google Shape;18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While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Simple like C programming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Initialize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Condition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Increment / decrement / change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While –else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Same as while only special condition of else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When complete loop runs without break then go to else part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right use of else ‘break’ should be used inside the loop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Check if given number is prime or not</a:t>
            </a:r>
            <a:endParaRPr/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9450" y="1609673"/>
            <a:ext cx="4354350" cy="199250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 loop and For-else</a:t>
            </a:r>
            <a:endParaRPr/>
          </a:p>
        </p:txBody>
      </p:sp>
      <p:sp>
        <p:nvSpPr>
          <p:cNvPr id="192" name="Google Shape;192;p10"/>
          <p:cNvSpPr txBox="1"/>
          <p:nvPr>
            <p:ph idx="1" type="body"/>
          </p:nvPr>
        </p:nvSpPr>
        <p:spPr>
          <a:xfrm>
            <a:off x="838200" y="1582614"/>
            <a:ext cx="10515600" cy="4794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1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Special handling of elements, just like “for each” in JAVA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Works on elements of list / any iterator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Ex. for I in range(5): # range(5) creates iterator of numbers from 0 to 4</a:t>
            </a:r>
            <a:endParaRPr/>
          </a:p>
          <a:p>
            <a:pPr indent="-228600" lvl="3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print(i)  # every time i is assigned one element from range iterator</a:t>
            </a:r>
            <a:endParaRPr/>
          </a:p>
          <a:p>
            <a:pPr indent="-76200" lvl="1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–else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Same as for only special condition of else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Works on elements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When complete loop runs without break then go to else part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for right use of else ‘break’ should be used inside the loop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Ex: Take list of student marks. Print “All Pass” if all students have marks greater than 50.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7819" y="1291267"/>
            <a:ext cx="4087091" cy="1299533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break &amp; continue keyword</a:t>
            </a:r>
            <a:endParaRPr/>
          </a:p>
        </p:txBody>
      </p:sp>
      <p:sp>
        <p:nvSpPr>
          <p:cNvPr id="199" name="Google Shape;19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Same as other programming languages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break</a:t>
            </a:r>
            <a:r>
              <a:rPr lang="en-US"/>
              <a:t> : Breaks execution of the innermost loop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If break written in loop, only single loop then break will take control out of that loop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break is written in loop2, loop2 is inside loop1 then, control will break from loop2 and go to loop1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continue</a:t>
            </a:r>
            <a:r>
              <a:rPr lang="en-US"/>
              <a:t> : skip steps ahead and continue to next element / value of the loop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pass keyword</a:t>
            </a:r>
            <a:endParaRPr/>
          </a:p>
        </p:txBody>
      </p:sp>
      <p:sp>
        <p:nvSpPr>
          <p:cNvPr id="205" name="Google Shape;20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when you want to keep block of code empty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you have not decided what to write in code block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pass allows to write code without any execution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i=9</a:t>
            </a:r>
            <a:br>
              <a:rPr lang="en-US"/>
            </a:br>
            <a:r>
              <a:rPr lang="en-US"/>
              <a:t>  if i &lt; 5: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  # Think and write add the code here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  pass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else: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   </a:t>
            </a:r>
            <a:r>
              <a:rPr lang="en-US"/>
              <a:t>print("greater than 5")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Match : Switch case in python 3.10+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is known as Structural Pattern Matching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simplest use it is like a switch case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has much more usage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Infinite Loop: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loop code or condition never stops the loop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Here loop runs infinitely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</a:t>
            </a:r>
            <a:r>
              <a:rPr b="1" lang="en-US"/>
              <a:t>may happen by mistake </a:t>
            </a:r>
            <a:r>
              <a:rPr lang="en-US"/>
              <a:t>/ intentional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</a:t>
            </a:r>
            <a:r>
              <a:rPr b="1" lang="en-US" u="sng"/>
              <a:t>In while loop if increment of variable is missing </a:t>
            </a:r>
            <a:r>
              <a:rPr lang="en-US"/>
              <a:t>then loop will not stop!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2022-04-23T10:11:48Z</dcterms:created>
  <dc:creator>dac</dc:creator>
</cp:coreProperties>
</file>