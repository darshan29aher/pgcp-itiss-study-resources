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</p:sldIdLst>
  <p:sldSz cy="6858000" cx="12192000"/>
  <p:notesSz cx="6858000" cy="9144000"/>
  <p:embeddedFontLst>
    <p:embeddedFont>
      <p:font typeface="Arimo"/>
      <p:regular r:id="rId41"/>
      <p:bold r:id="rId42"/>
      <p:italic r:id="rId43"/>
      <p:boldItalic r:id="rId4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r:id="rId45" roundtripDataSignature="AMtx7mg2GT8oTeOcUaX9F5Uxjk/ObaOVK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658E51A-BA14-4C2F-9ACB-BA8053FBF624}">
  <a:tblStyle styleId="{A658E51A-BA14-4C2F-9ACB-BA8053FBF624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chemeClr val="lt1"/>
          </a:solidFill>
        </a:fill>
      </a:tcStyle>
    </a:wholeTbl>
    <a:band1H>
      <a:tcTxStyle/>
      <a:tcStyle>
        <a:fill>
          <a:solidFill>
            <a:srgbClr val="E9EFF7"/>
          </a:solidFill>
        </a:fill>
      </a:tcStyle>
    </a:band1H>
    <a:band2H>
      <a:tcTxStyle/>
    </a:band2H>
    <a:band1V>
      <a:tcTxStyle/>
      <a:tcStyle>
        <a:fill>
          <a:solidFill>
            <a:srgbClr val="E9EFF7"/>
          </a:solidFill>
        </a:fill>
      </a:tcStyle>
    </a:band1V>
    <a:band2V>
      <a:tcTxStyle/>
    </a:band2V>
    <a:lastCol>
      <a:tcTxStyle b="on" i="off"/>
    </a:lastCol>
    <a:firstCol>
      <a:tcTxStyle b="on" i="off"/>
    </a:firstCol>
    <a:lastRow>
      <a:tcTxStyle b="on" i="off"/>
      <a:tcStyle>
        <a:tcBdr>
          <a:top>
            <a:ln cap="flat" cmpd="sng" w="508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l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20" Type="http://schemas.openxmlformats.org/officeDocument/2006/relationships/slide" Target="slides/slide14.xml"/><Relationship Id="rId42" Type="http://schemas.openxmlformats.org/officeDocument/2006/relationships/font" Target="fonts/Arimo-bold.fntdata"/><Relationship Id="rId41" Type="http://schemas.openxmlformats.org/officeDocument/2006/relationships/font" Target="fonts/Arimo-regular.fntdata"/><Relationship Id="rId22" Type="http://schemas.openxmlformats.org/officeDocument/2006/relationships/slide" Target="slides/slide16.xml"/><Relationship Id="rId44" Type="http://schemas.openxmlformats.org/officeDocument/2006/relationships/font" Target="fonts/Arimo-boldItalic.fntdata"/><Relationship Id="rId21" Type="http://schemas.openxmlformats.org/officeDocument/2006/relationships/slide" Target="slides/slide15.xml"/><Relationship Id="rId43" Type="http://schemas.openxmlformats.org/officeDocument/2006/relationships/font" Target="fonts/Arimo-italic.fntdata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45" Type="http://customschemas.google.com/relationships/presentationmetadata" Target="meta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slide" Target="slides/slide29.xml"/><Relationship Id="rId12" Type="http://schemas.openxmlformats.org/officeDocument/2006/relationships/slide" Target="slides/slide6.xml"/><Relationship Id="rId34" Type="http://schemas.openxmlformats.org/officeDocument/2006/relationships/slide" Target="slides/slide28.xml"/><Relationship Id="rId15" Type="http://schemas.openxmlformats.org/officeDocument/2006/relationships/slide" Target="slides/slide9.xml"/><Relationship Id="rId37" Type="http://schemas.openxmlformats.org/officeDocument/2006/relationships/slide" Target="slides/slide31.xml"/><Relationship Id="rId14" Type="http://schemas.openxmlformats.org/officeDocument/2006/relationships/slide" Target="slides/slide8.xml"/><Relationship Id="rId36" Type="http://schemas.openxmlformats.org/officeDocument/2006/relationships/slide" Target="slides/slide30.xml"/><Relationship Id="rId17" Type="http://schemas.openxmlformats.org/officeDocument/2006/relationships/slide" Target="slides/slide11.xml"/><Relationship Id="rId39" Type="http://schemas.openxmlformats.org/officeDocument/2006/relationships/slide" Target="slides/slide33.xml"/><Relationship Id="rId16" Type="http://schemas.openxmlformats.org/officeDocument/2006/relationships/slide" Target="slides/slide10.xml"/><Relationship Id="rId38" Type="http://schemas.openxmlformats.org/officeDocument/2006/relationships/slide" Target="slides/slide32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98" name="Google Shape;98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03" name="Google Shape;103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09" name="Google Shape;109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15" name="Google Shape;115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27" name="Google Shape;127;p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32" name="Google Shape;132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59" name="Google Shape;159;p1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73" name="Google Shape;173;p1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78" name="Google Shape;178;p1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262" name="Google Shape;262;p2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3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3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3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6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6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3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3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3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3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3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3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39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39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5" name="Google Shape;35;p3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3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3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4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40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40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4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4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4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41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41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8" name="Google Shape;48;p41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9" name="Google Shape;49;p41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0" name="Google Shape;50;p41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1" name="Google Shape;51;p4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4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4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4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4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4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43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43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43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4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4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4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44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44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44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4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4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4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4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45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4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4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4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46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46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4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4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4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3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3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3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3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docs.python.org/3/library/stdtypes.html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7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5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4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hyperlink" Target="https://docs.python.org/3/library/exceptions.html" TargetMode="External"/><Relationship Id="rId4" Type="http://schemas.openxmlformats.org/officeDocument/2006/relationships/hyperlink" Target="https://docs.python.org/3/library/exceptions.html" TargetMode="Externa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hyperlink" Target="https://docs.python.org/3/library/exceptions.html" TargetMode="External"/><Relationship Id="rId4" Type="http://schemas.openxmlformats.org/officeDocument/2006/relationships/hyperlink" Target="https://docs.python.org/3/library/exceptions.html" TargetMode="External"/><Relationship Id="rId5" Type="http://schemas.openxmlformats.org/officeDocument/2006/relationships/hyperlink" Target="https://docs.python.org/3/library/stdtypes.html" TargetMode="External"/><Relationship Id="rId6" Type="http://schemas.openxmlformats.org/officeDocument/2006/relationships/hyperlink" Target="https://docs.python.org/3/library/exceptions.html" TargetMode="Externa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hyperlink" Target="https://docs.python.org/3/glossary.html" TargetMode="External"/><Relationship Id="rId4" Type="http://schemas.openxmlformats.org/officeDocument/2006/relationships/hyperlink" Target="https://docs.python.org/3/glossary.html" TargetMode="Externa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6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hyperlink" Target="https://stackabuse.com/unpacking-in-python-beyond-parallel-assignment/" TargetMode="External"/><Relationship Id="rId4" Type="http://schemas.openxmlformats.org/officeDocument/2006/relationships/image" Target="../media/image10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hyperlink" Target="https://stackoverflow.com/questions/50872498/will-ordereddict-become-redundant-in-python-3-7" TargetMode="External"/><Relationship Id="rId4" Type="http://schemas.openxmlformats.org/officeDocument/2006/relationships/image" Target="../media/image9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hyperlink" Target="https://stackoverflow.com/questions/449560/how-do-i-determine-the-size-of-an-object-in-python/30316760" TargetMode="Externa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hyperlink" Target="https://docs.python.org/3/library/functions.html" TargetMode="External"/><Relationship Id="rId4" Type="http://schemas.openxmlformats.org/officeDocument/2006/relationships/hyperlink" Target="https://docs.python.org/3/library/functions.html" TargetMode="External"/><Relationship Id="rId5" Type="http://schemas.openxmlformats.org/officeDocument/2006/relationships/hyperlink" Target="https://docs.python.org/3/library/stdtypes.html" TargetMode="Externa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Relationship Id="rId3" Type="http://schemas.openxmlformats.org/officeDocument/2006/relationships/hyperlink" Target="https://docs.python.org/3/library/stdtypes.html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en-US"/>
              <a:t>Data Types in Python Part 4</a:t>
            </a:r>
            <a:endParaRPr/>
          </a:p>
        </p:txBody>
      </p:sp>
      <p:sp>
        <p:nvSpPr>
          <p:cNvPr id="89" name="Google Shape;89;p1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By Dr Shantanu Pathak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Ref : </a:t>
            </a:r>
            <a:r>
              <a:rPr lang="en-US" u="sng">
                <a:solidFill>
                  <a:schemeClr val="hlink"/>
                </a:solidFill>
                <a:hlinkClick r:id="rId3"/>
              </a:rPr>
              <a:t>https://docs.python.org/3/library/stdtypes.html</a:t>
            </a:r>
            <a:r>
              <a:rPr lang="en-US"/>
              <a:t> 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Contents</a:t>
            </a:r>
            <a:endParaRPr/>
          </a:p>
        </p:txBody>
      </p:sp>
      <p:sp>
        <p:nvSpPr>
          <p:cNvPr id="95" name="Google Shape;95;p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Tuple Data type &amp; Operations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Set Data type &amp; Operations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Frozenset Data type &amp; Operations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Dictionary Data type &amp; Operations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Byte Data type &amp; Operations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Bytearray Data type &amp; Operations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"/>
          <p:cNvSpPr txBox="1"/>
          <p:nvPr/>
        </p:nvSpPr>
        <p:spPr>
          <a:xfrm>
            <a:off x="1995055" y="2438588"/>
            <a:ext cx="8799615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en-US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Tuple Data Type &amp; Operations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Tuple Data Type</a:t>
            </a:r>
            <a:endParaRPr/>
          </a:p>
        </p:txBody>
      </p:sp>
      <p:sp>
        <p:nvSpPr>
          <p:cNvPr id="106" name="Google Shape;106;p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Like a list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2800"/>
              <a:buChar char="•"/>
            </a:pPr>
            <a:r>
              <a:rPr lang="en-US">
                <a:solidFill>
                  <a:srgbClr val="FF0000"/>
                </a:solidFill>
              </a:rPr>
              <a:t>Immutable</a:t>
            </a:r>
            <a:r>
              <a:rPr lang="en-US"/>
              <a:t> : once created can’t be changed or altered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>
                <a:solidFill>
                  <a:srgbClr val="2E75B5"/>
                </a:solidFill>
              </a:rPr>
              <a:t>Special case</a:t>
            </a:r>
            <a:r>
              <a:rPr lang="en-US"/>
              <a:t>: if tuple contains mutable object then values inside that mutable object can be changed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Used to pass and return parameters from functions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Can be used to assign multiple values on same line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Because it is immutable it is used to store related values like C structure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Ex. Value of points ( Cartesian Coordinate system)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"/>
          <p:cNvSpPr txBox="1"/>
          <p:nvPr>
            <p:ph type="title"/>
          </p:nvPr>
        </p:nvSpPr>
        <p:spPr>
          <a:xfrm>
            <a:off x="838200" y="129995"/>
            <a:ext cx="10515600" cy="53621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11111"/>
              <a:buFont typeface="Calibri"/>
              <a:buNone/>
            </a:pPr>
            <a:r>
              <a:rPr lang="en-US"/>
              <a:t>Tuple Operations</a:t>
            </a:r>
            <a:endParaRPr/>
          </a:p>
        </p:txBody>
      </p:sp>
      <p:sp>
        <p:nvSpPr>
          <p:cNvPr id="112" name="Google Shape;112;p5"/>
          <p:cNvSpPr txBox="1"/>
          <p:nvPr>
            <p:ph idx="1" type="body"/>
          </p:nvPr>
        </p:nvSpPr>
        <p:spPr>
          <a:xfrm>
            <a:off x="838200" y="914404"/>
            <a:ext cx="10515600" cy="5525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Creation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Use tuple() or direct assignment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To create tuple with single value need comma at end ( special syntax)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Ex. t=(100,)   # note there is , after the element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Update / Delete elements : not allowed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b="1" lang="en-US" u="sng"/>
              <a:t>Special case </a:t>
            </a:r>
            <a:r>
              <a:rPr lang="en-US"/>
              <a:t>: updating mutable elements is possible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Ex. t1 = ( 10, [20,30], 40)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Now t1[1][0] = 100  #allowed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Slicing : just like list or strings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Comparison of two tuples ( &lt; , &gt; , == , &gt;= , &lt;= , != )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Just like in lists and strings ( lexicographical ordering)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Packing and Unpacking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 = 10, 20 , 30   # automatically tuple is created because of packing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a,*b, c  = (40,50,60,70) # unpack tuple on right to variables on left side 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6"/>
          <p:cNvSpPr txBox="1"/>
          <p:nvPr>
            <p:ph type="title"/>
          </p:nvPr>
        </p:nvSpPr>
        <p:spPr>
          <a:xfrm>
            <a:off x="896815" y="76201"/>
            <a:ext cx="10515600" cy="1027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74603"/>
              <a:buFont typeface="Calibri"/>
              <a:buNone/>
            </a:pPr>
            <a:r>
              <a:rPr lang="en-US"/>
              <a:t>Common Operations for Sequences </a:t>
            </a:r>
            <a:br>
              <a:rPr lang="en-US"/>
            </a:br>
            <a:r>
              <a:rPr lang="en-US" sz="2800"/>
              <a:t>(for any sequence Data Types str, list, tuple, bytes, bytearray)</a:t>
            </a:r>
            <a:endParaRPr sz="2800"/>
          </a:p>
        </p:txBody>
      </p:sp>
      <p:graphicFrame>
        <p:nvGraphicFramePr>
          <p:cNvPr id="118" name="Google Shape;118;p6"/>
          <p:cNvGraphicFramePr/>
          <p:nvPr/>
        </p:nvGraphicFramePr>
        <p:xfrm>
          <a:off x="302358" y="1103550"/>
          <a:ext cx="3000000" cy="3000000"/>
        </p:xfrm>
        <a:graphic>
          <a:graphicData uri="http://schemas.openxmlformats.org/drawingml/2006/table">
            <a:tbl>
              <a:tblPr firstRow="1">
                <a:noFill/>
                <a:tableStyleId>{A658E51A-BA14-4C2F-9ACB-BA8053FBF624}</a:tableStyleId>
              </a:tblPr>
              <a:tblGrid>
                <a:gridCol w="740500"/>
                <a:gridCol w="2030375"/>
                <a:gridCol w="8933650"/>
              </a:tblGrid>
              <a:tr h="3785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 u="none" cap="none" strike="noStrike"/>
                        <a:t>Sr No</a:t>
                      </a:r>
                      <a:endParaRPr b="0" i="0" sz="20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 u="none" cap="none" strike="noStrike"/>
                        <a:t>Operation</a:t>
                      </a:r>
                      <a:endParaRPr b="1" i="0" sz="20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 u="none" cap="none" strike="noStrike"/>
                        <a:t>Result</a:t>
                      </a:r>
                      <a:endParaRPr b="1" i="0" sz="20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ctr"/>
                </a:tc>
              </a:tr>
              <a:tr h="3785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rPr lang="en-US" sz="1600" u="none" cap="none" strike="noStrike"/>
                        <a:t>1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/>
                        <a:t>x in s</a:t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Arimo"/>
                        <a:ea typeface="Arimo"/>
                        <a:cs typeface="Arimo"/>
                        <a:sym typeface="Arimo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rPr lang="en-US" sz="1600" u="none" cap="none" strike="noStrike"/>
                        <a:t>True</a:t>
                      </a:r>
                      <a:r>
                        <a:rPr lang="en-US" sz="2000" u="none" cap="none" strike="noStrike"/>
                        <a:t> if an item of s is equal to x, else </a:t>
                      </a:r>
                      <a:r>
                        <a:rPr lang="en-US" sz="1600" u="none" cap="none" strike="noStrike"/>
                        <a:t>False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Arimo"/>
                        <a:ea typeface="Arimo"/>
                        <a:cs typeface="Arimo"/>
                        <a:sym typeface="Arimo"/>
                      </a:endParaRPr>
                    </a:p>
                  </a:txBody>
                  <a:tcPr marT="9525" marB="0" marR="9525" marL="9525" anchor="ctr"/>
                </a:tc>
              </a:tr>
              <a:tr h="3785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rPr lang="en-US" sz="1600" u="none" cap="none" strike="noStrike"/>
                        <a:t>2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/>
                        <a:t>x not in s</a:t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Arimo"/>
                        <a:ea typeface="Arimo"/>
                        <a:cs typeface="Arimo"/>
                        <a:sym typeface="Arimo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rPr lang="en-US" sz="1600" u="none" cap="none" strike="noStrike"/>
                        <a:t>False</a:t>
                      </a:r>
                      <a:r>
                        <a:rPr lang="en-US" sz="2000" u="none" cap="none" strike="noStrike"/>
                        <a:t> if an item of s is equal to x, else </a:t>
                      </a:r>
                      <a:r>
                        <a:rPr lang="en-US" sz="1600" u="none" cap="none" strike="noStrike"/>
                        <a:t>True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Arimo"/>
                        <a:ea typeface="Arimo"/>
                        <a:cs typeface="Arimo"/>
                        <a:sym typeface="Arimo"/>
                      </a:endParaRPr>
                    </a:p>
                  </a:txBody>
                  <a:tcPr marT="9525" marB="0" marR="9525" marL="9525" anchor="ctr"/>
                </a:tc>
              </a:tr>
              <a:tr h="3785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rPr lang="en-US" sz="1600" u="none" cap="none" strike="noStrike"/>
                        <a:t>3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/>
                        <a:t>s + t</a:t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Arimo"/>
                        <a:ea typeface="Arimo"/>
                        <a:cs typeface="Arimo"/>
                        <a:sym typeface="Arimo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 u="none" cap="none" strike="noStrike"/>
                        <a:t>the concatenation of two sequences, s and t</a:t>
                      </a:r>
                      <a:endParaRPr b="0" i="0" sz="20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ctr"/>
                </a:tc>
              </a:tr>
              <a:tr h="3785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rPr lang="en-US" sz="1600" u="none" cap="none" strike="noStrike"/>
                        <a:t>4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/>
                        <a:t>s * n</a:t>
                      </a:r>
                      <a:r>
                        <a:rPr lang="en-US" sz="2400" u="none" cap="none" strike="noStrike"/>
                        <a:t> or </a:t>
                      </a:r>
                      <a:r>
                        <a:rPr lang="en-US" sz="1800" u="none" cap="none" strike="noStrike"/>
                        <a:t>n * s</a:t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Arimo"/>
                        <a:ea typeface="Arimo"/>
                        <a:cs typeface="Arimo"/>
                        <a:sym typeface="Arimo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 u="none" cap="none" strike="noStrike"/>
                        <a:t>equivalent to adding s to itself n times</a:t>
                      </a:r>
                      <a:endParaRPr b="0" i="0" sz="20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ctr"/>
                </a:tc>
              </a:tr>
              <a:tr h="3785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rPr lang="en-US" sz="1600" u="none" cap="none" strike="noStrike"/>
                        <a:t>5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/>
                        <a:t>s[i]</a:t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Arimo"/>
                        <a:ea typeface="Arimo"/>
                        <a:cs typeface="Arimo"/>
                        <a:sym typeface="Arimo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 u="none" cap="none" strike="noStrike"/>
                        <a:t>ith index item of s, origin 0</a:t>
                      </a:r>
                      <a:endParaRPr b="0" i="1" sz="20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ctr"/>
                </a:tc>
              </a:tr>
              <a:tr h="3785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rPr lang="en-US" sz="1600" u="none" cap="none" strike="noStrike"/>
                        <a:t>6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/>
                        <a:t>s[i:j]</a:t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Arimo"/>
                        <a:ea typeface="Arimo"/>
                        <a:cs typeface="Arimo"/>
                        <a:sym typeface="Arimo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 u="none" cap="none" strike="noStrike"/>
                        <a:t>slice of s from index  i to j</a:t>
                      </a:r>
                      <a:endParaRPr b="0" i="0" sz="20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ctr"/>
                </a:tc>
              </a:tr>
              <a:tr h="3785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rPr lang="en-US" sz="1600" u="none" cap="none" strike="noStrike"/>
                        <a:t>7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/>
                        <a:t>s[i:j:k]</a:t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Arimo"/>
                        <a:ea typeface="Arimo"/>
                        <a:cs typeface="Arimo"/>
                        <a:sym typeface="Arimo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 u="none" cap="none" strike="noStrike"/>
                        <a:t>slice of s from index i to j with step k</a:t>
                      </a:r>
                      <a:endParaRPr b="0" i="0" sz="20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ctr"/>
                </a:tc>
              </a:tr>
              <a:tr h="3785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rPr lang="en-US" sz="1600" u="none" cap="none" strike="noStrike"/>
                        <a:t>8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/>
                        <a:t>len(s)</a:t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Arimo"/>
                        <a:ea typeface="Arimo"/>
                        <a:cs typeface="Arimo"/>
                        <a:sym typeface="Arimo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 u="none" cap="none" strike="noStrike"/>
                        <a:t>length of s</a:t>
                      </a:r>
                      <a:endParaRPr b="0" i="0" sz="20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ctr"/>
                </a:tc>
              </a:tr>
              <a:tr h="3785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rPr lang="en-US" sz="1600" u="none" cap="none" strike="noStrike"/>
                        <a:t>9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/>
                        <a:t>min(s)</a:t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Arimo"/>
                        <a:ea typeface="Arimo"/>
                        <a:cs typeface="Arimo"/>
                        <a:sym typeface="Arimo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 u="none" cap="none" strike="noStrike"/>
                        <a:t>smallest item of s</a:t>
                      </a:r>
                      <a:endParaRPr b="0" i="0" sz="20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ctr"/>
                </a:tc>
              </a:tr>
              <a:tr h="3785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rPr lang="en-US" sz="1600" u="none" cap="none" strike="noStrike"/>
                        <a:t>10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/>
                        <a:t>max(s)</a:t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Arimo"/>
                        <a:ea typeface="Arimo"/>
                        <a:cs typeface="Arimo"/>
                        <a:sym typeface="Arimo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 u="none" cap="none" strike="noStrike"/>
                        <a:t>largest item of s</a:t>
                      </a:r>
                      <a:endParaRPr b="0" i="0" sz="20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ctr"/>
                </a:tc>
              </a:tr>
              <a:tr h="3785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rPr lang="en-US" sz="1600" u="none" cap="none" strike="noStrike"/>
                        <a:t>11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/>
                        <a:t>s.index(x[, i[, j]])</a:t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Arimo"/>
                        <a:ea typeface="Arimo"/>
                        <a:cs typeface="Arimo"/>
                        <a:sym typeface="Arimo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 u="none" cap="none" strike="noStrike"/>
                        <a:t>index of the first occurrence of x in s (at or after index i and before index j)</a:t>
                      </a:r>
                      <a:endParaRPr b="0" i="0" sz="20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ctr"/>
                </a:tc>
              </a:tr>
              <a:tr h="3785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rPr lang="en-US" sz="1600" u="none" cap="none" strike="noStrike"/>
                        <a:t>12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/>
                        <a:t>s.count(x)</a:t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Arimo"/>
                        <a:ea typeface="Arimo"/>
                        <a:cs typeface="Arimo"/>
                        <a:sym typeface="Arimo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 u="none" cap="none" strike="noStrike"/>
                        <a:t>total number of occurrences of x in s</a:t>
                      </a:r>
                      <a:endParaRPr b="0" i="0" sz="20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ctr"/>
                </a:tc>
              </a:tr>
              <a:tr h="3785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rPr lang="en-US" sz="1600" u="none" cap="none" strike="noStrike"/>
                        <a:t>13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/>
                        <a:t>all(s)</a:t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/>
                        <a:t>if all values in sequence s are non-zero (TRUE) then return TRUE, else FALSE</a:t>
                      </a:r>
                      <a:endParaRPr sz="1800" u="none" cap="none" strike="noStrike"/>
                    </a:p>
                  </a:txBody>
                  <a:tcPr marT="9525" marB="0" marR="9525" marL="9525" anchor="ctr"/>
                </a:tc>
              </a:tr>
              <a:tr h="3785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rPr lang="en-US" sz="1600" u="none" cap="none" strike="noStrike"/>
                        <a:t>14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/>
                        <a:t>any(s)</a:t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/>
                        <a:t>if any value in sequence s is TRUE then return TRUE else return FALSE</a:t>
                      </a:r>
                      <a:endParaRPr sz="1800" u="none" cap="none" strike="noStrike"/>
                    </a:p>
                  </a:txBody>
                  <a:tcPr marT="9525" marB="0" marR="9525" marL="9525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Extra for Tuple</a:t>
            </a:r>
            <a:endParaRPr/>
          </a:p>
        </p:txBody>
      </p:sp>
      <p:sp>
        <p:nvSpPr>
          <p:cNvPr id="124" name="Google Shape;124;p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Working on zip() function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How to loop over 2 or more lists using ONLY one ‘for’ statement ? 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8"/>
          <p:cNvSpPr txBox="1"/>
          <p:nvPr/>
        </p:nvSpPr>
        <p:spPr>
          <a:xfrm>
            <a:off x="1995055" y="2438588"/>
            <a:ext cx="8799615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en-US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Set Data Type &amp; Operations</a:t>
            </a:r>
            <a:endParaRPr/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en-US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And Frozenset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9"/>
          <p:cNvSpPr txBox="1"/>
          <p:nvPr>
            <p:ph type="title"/>
          </p:nvPr>
        </p:nvSpPr>
        <p:spPr>
          <a:xfrm>
            <a:off x="703384" y="93819"/>
            <a:ext cx="10515600" cy="76029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Set Data Type</a:t>
            </a:r>
            <a:endParaRPr/>
          </a:p>
        </p:txBody>
      </p:sp>
      <p:sp>
        <p:nvSpPr>
          <p:cNvPr id="135" name="Google Shape;135;p9"/>
          <p:cNvSpPr txBox="1"/>
          <p:nvPr>
            <p:ph idx="1" type="body"/>
          </p:nvPr>
        </p:nvSpPr>
        <p:spPr>
          <a:xfrm>
            <a:off x="339969" y="788795"/>
            <a:ext cx="11242431" cy="4527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set is an unordered collection with no duplicate elements.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Internally uses hashing to determine the duplicate elements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Just like a set in algebra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Set can be changed, so its </a:t>
            </a:r>
            <a:r>
              <a:rPr lang="en-US">
                <a:solidFill>
                  <a:schemeClr val="accent6"/>
                </a:solidFill>
              </a:rPr>
              <a:t>mutable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Set allows </a:t>
            </a:r>
            <a:r>
              <a:rPr lang="en-US">
                <a:solidFill>
                  <a:srgbClr val="2E75B5"/>
                </a:solidFill>
              </a:rPr>
              <a:t>ONLY hashable (immutable) </a:t>
            </a:r>
            <a:r>
              <a:rPr lang="en-US"/>
              <a:t>elements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Single element of set cannot be updated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ONLY immutable elements are allowed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Single element cannot be updated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Set doesn’t maintain insertion order of elements so its </a:t>
            </a:r>
            <a:r>
              <a:rPr lang="en-US">
                <a:solidFill>
                  <a:srgbClr val="2E75B5"/>
                </a:solidFill>
              </a:rPr>
              <a:t>un-ordered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Order of elements is decided based on hash value of the elements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So, </a:t>
            </a:r>
            <a:r>
              <a:rPr b="1" lang="en-US"/>
              <a:t>indexing, slicing </a:t>
            </a:r>
            <a:r>
              <a:rPr lang="en-US"/>
              <a:t>and many other sequence like behavior are </a:t>
            </a:r>
            <a:r>
              <a:rPr b="1" lang="en-US"/>
              <a:t>NOT ALLOWED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Creating Set: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Set can be created using set() constructor passing any iterable </a:t>
            </a:r>
            <a:endParaRPr/>
          </a:p>
        </p:txBody>
      </p:sp>
      <p:pic>
        <p:nvPicPr>
          <p:cNvPr id="136" name="Google Shape;13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735" y="5349461"/>
            <a:ext cx="9326545" cy="13256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Set Comprehension</a:t>
            </a:r>
            <a:endParaRPr/>
          </a:p>
        </p:txBody>
      </p:sp>
      <p:sp>
        <p:nvSpPr>
          <p:cNvPr id="142" name="Google Shape;142;p10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Set comprehension is similar to list comprehension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Curly brackets are used to denote the comprehension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Here all elements are added to set at once without calling add() function each time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Ex. Create set of all values between 1 to 15, which are greater than 5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143" name="Google Shape;143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200" y="4706133"/>
            <a:ext cx="8318863" cy="11590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Common Use of sets</a:t>
            </a:r>
            <a:endParaRPr/>
          </a:p>
        </p:txBody>
      </p:sp>
      <p:sp>
        <p:nvSpPr>
          <p:cNvPr id="149" name="Google Shape;149;p1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membership testing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removing duplicates from a sequence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computing mathematical operations such as 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Intersection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Union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Difference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Symmetric difference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2"/>
          <p:cNvSpPr txBox="1"/>
          <p:nvPr>
            <p:ph type="title"/>
          </p:nvPr>
        </p:nvSpPr>
        <p:spPr>
          <a:xfrm>
            <a:off x="838200" y="365126"/>
            <a:ext cx="10515600" cy="8627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Frozenset Data Type</a:t>
            </a:r>
            <a:endParaRPr/>
          </a:p>
        </p:txBody>
      </p:sp>
      <p:sp>
        <p:nvSpPr>
          <p:cNvPr id="155" name="Google Shape;155;p12"/>
          <p:cNvSpPr txBox="1"/>
          <p:nvPr>
            <p:ph idx="1" type="body"/>
          </p:nvPr>
        </p:nvSpPr>
        <p:spPr>
          <a:xfrm>
            <a:off x="838200" y="1423540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It is </a:t>
            </a:r>
            <a:r>
              <a:rPr lang="en-US">
                <a:solidFill>
                  <a:srgbClr val="548135"/>
                </a:solidFill>
              </a:rPr>
              <a:t>Immutable</a:t>
            </a:r>
            <a:r>
              <a:rPr lang="en-US"/>
              <a:t> set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Can be used inside a set as an element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Can be used as key for dictionaries (discussed ahead)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Frozenset is </a:t>
            </a:r>
            <a:r>
              <a:rPr lang="en-US">
                <a:solidFill>
                  <a:srgbClr val="2E75B5"/>
                </a:solidFill>
              </a:rPr>
              <a:t>hashable</a:t>
            </a:r>
            <a:r>
              <a:rPr lang="en-US"/>
              <a:t> object because it is immutable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Once it is created addition or removing of elements is not possible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All other rules are same as set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Created using constructor frozenset()</a:t>
            </a:r>
            <a:endParaRPr/>
          </a:p>
        </p:txBody>
      </p:sp>
      <p:pic>
        <p:nvPicPr>
          <p:cNvPr id="156" name="Google Shape;156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199" y="5507730"/>
            <a:ext cx="8802189" cy="10106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3"/>
          <p:cNvSpPr txBox="1"/>
          <p:nvPr>
            <p:ph type="title"/>
          </p:nvPr>
        </p:nvSpPr>
        <p:spPr>
          <a:xfrm>
            <a:off x="896815" y="22779"/>
            <a:ext cx="10515600" cy="6422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74603"/>
              <a:buFont typeface="Calibri"/>
              <a:buNone/>
            </a:pPr>
            <a:r>
              <a:rPr lang="en-US"/>
              <a:t>Common Operations for Set / Frozenset</a:t>
            </a:r>
            <a:endParaRPr sz="2800"/>
          </a:p>
        </p:txBody>
      </p:sp>
      <p:graphicFrame>
        <p:nvGraphicFramePr>
          <p:cNvPr id="162" name="Google Shape;162;p13"/>
          <p:cNvGraphicFramePr/>
          <p:nvPr/>
        </p:nvGraphicFramePr>
        <p:xfrm>
          <a:off x="302352" y="520443"/>
          <a:ext cx="3000000" cy="3000000"/>
        </p:xfrm>
        <a:graphic>
          <a:graphicData uri="http://schemas.openxmlformats.org/drawingml/2006/table">
            <a:tbl>
              <a:tblPr firstRow="1">
                <a:noFill/>
                <a:tableStyleId>{A658E51A-BA14-4C2F-9ACB-BA8053FBF624}</a:tableStyleId>
              </a:tblPr>
              <a:tblGrid>
                <a:gridCol w="740500"/>
                <a:gridCol w="3542200"/>
                <a:gridCol w="7421825"/>
              </a:tblGrid>
              <a:tr h="3805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/>
                        <a:t>Sr No</a:t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/>
                        <a:t>Operation</a:t>
                      </a:r>
                      <a:endParaRPr b="1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/>
                        <a:t>Result</a:t>
                      </a:r>
                      <a:endParaRPr b="1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ctr"/>
                </a:tc>
              </a:tr>
              <a:tr h="3805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/>
                        <a:t>1</a:t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 in s</a:t>
                      </a:r>
                      <a:endParaRPr sz="20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True if an item of s is equal to x, else False</a:t>
                      </a:r>
                      <a:endParaRPr sz="20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ctr"/>
                </a:tc>
              </a:tr>
              <a:tr h="3805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/>
                        <a:t>2</a:t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 not in s</a:t>
                      </a:r>
                      <a:endParaRPr sz="20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False if an item of s is equal to x, else True</a:t>
                      </a:r>
                      <a:endParaRPr sz="20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ctr"/>
                </a:tc>
              </a:tr>
              <a:tr h="3805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b="0" i="0" lang="en-US" sz="14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len(s)</a:t>
                      </a:r>
                      <a:endParaRPr sz="20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length of s</a:t>
                      </a:r>
                      <a:endParaRPr sz="20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ctr"/>
                </a:tc>
              </a:tr>
              <a:tr h="3805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b="0" i="0" lang="en-US" sz="14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min(s)</a:t>
                      </a:r>
                      <a:endParaRPr sz="20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smallest item of s</a:t>
                      </a:r>
                      <a:endParaRPr sz="20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ctr"/>
                </a:tc>
              </a:tr>
              <a:tr h="3805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b="0" i="0" lang="en-US" sz="14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max(s)</a:t>
                      </a:r>
                      <a:endParaRPr sz="20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largest item of s</a:t>
                      </a:r>
                      <a:endParaRPr sz="20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ctr"/>
                </a:tc>
              </a:tr>
              <a:tr h="3805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b="0" i="0" lang="en-US" sz="14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all(s)</a:t>
                      </a:r>
                      <a:endParaRPr sz="20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20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if all values in sequence s are non-zero (TRUE) then return TRUE, </a:t>
                      </a:r>
                      <a:endParaRPr sz="20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20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else FALSE</a:t>
                      </a:r>
                      <a:endParaRPr sz="20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ctr"/>
                </a:tc>
              </a:tr>
              <a:tr h="3805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b="0" i="0" lang="en-US" sz="14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</a:t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any(s)</a:t>
                      </a:r>
                      <a:endParaRPr sz="20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20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if any value in sequence s is TRUE then return TRUE else return FALSE</a:t>
                      </a:r>
                      <a:endParaRPr sz="20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ctr"/>
                </a:tc>
              </a:tr>
              <a:tr h="3805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Calibri"/>
                        <a:buNone/>
                      </a:pPr>
                      <a:r>
                        <a:rPr b="0" i="0" lang="en-US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</a:t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s1.union(s2) or s1 | s2 </a:t>
                      </a:r>
                      <a:endParaRPr/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20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Union of two sets</a:t>
                      </a:r>
                      <a:endParaRPr sz="20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ctr"/>
                </a:tc>
              </a:tr>
              <a:tr h="3805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Calibri"/>
                        <a:buNone/>
                      </a:pPr>
                      <a:r>
                        <a:rPr b="0" i="0" lang="en-US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</a:t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s1.intersection(s2) or s1 &amp; s2</a:t>
                      </a:r>
                      <a:endParaRPr sz="20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20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Intersection of two sets</a:t>
                      </a:r>
                      <a:endParaRPr sz="20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ctr"/>
                </a:tc>
              </a:tr>
              <a:tr h="3805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Calibri"/>
                        <a:buNone/>
                      </a:pPr>
                      <a:r>
                        <a:rPr b="0" i="0" lang="en-US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</a:t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s1.difference(s2) or s1 – s2</a:t>
                      </a:r>
                      <a:endParaRPr sz="20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20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Difference between sets</a:t>
                      </a:r>
                      <a:endParaRPr/>
                    </a:p>
                  </a:txBody>
                  <a:tcPr marT="9525" marB="0" marR="9525" marL="9525" anchor="ctr"/>
                </a:tc>
              </a:tr>
              <a:tr h="3805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Calibri"/>
                        <a:buNone/>
                      </a:pPr>
                      <a:r>
                        <a:rPr b="0" i="0" lang="en-US" sz="1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11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s1.isdisjoint(s2)</a:t>
                      </a:r>
                      <a:endParaRPr sz="20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20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Check if two sets are dis-joint sets or not</a:t>
                      </a:r>
                      <a:endParaRPr/>
                    </a:p>
                  </a:txBody>
                  <a:tcPr marT="9525" marB="0" marR="9525" marL="9525" anchor="ctr"/>
                </a:tc>
              </a:tr>
              <a:tr h="3805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Calibri"/>
                        <a:buNone/>
                      </a:pPr>
                      <a:r>
                        <a:rPr b="0" i="0" lang="en-US" sz="1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s1.issubset(s2) or s1 &lt; s2</a:t>
                      </a:r>
                      <a:endParaRPr sz="20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20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Check if s1 is subset of s2</a:t>
                      </a:r>
                      <a:endParaRPr/>
                    </a:p>
                  </a:txBody>
                  <a:tcPr marT="9525" marB="0" marR="9525" marL="9525" anchor="ctr"/>
                </a:tc>
              </a:tr>
              <a:tr h="3805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Calibri"/>
                        <a:buNone/>
                      </a:pPr>
                      <a:r>
                        <a:rPr b="0" i="0" lang="en-US" sz="1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13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s1.issuperset(s2) or s1 &gt; s2</a:t>
                      </a:r>
                      <a:endParaRPr sz="20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20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Check if s1 is superset of s2</a:t>
                      </a:r>
                      <a:endParaRPr/>
                    </a:p>
                  </a:txBody>
                  <a:tcPr marT="9525" marB="0" marR="9525" marL="9525" anchor="ctr"/>
                </a:tc>
              </a:tr>
              <a:tr h="3805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Calibri"/>
                        <a:buNone/>
                      </a:pPr>
                      <a:r>
                        <a:rPr b="0" i="0" lang="en-US" sz="1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s1.copy()</a:t>
                      </a:r>
                      <a:endParaRPr sz="20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20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Create shallow copy of set s1</a:t>
                      </a:r>
                      <a:endParaRPr/>
                    </a:p>
                  </a:txBody>
                  <a:tcPr marT="9525" marB="0" marR="9525" marL="9525" anchor="ctr"/>
                </a:tc>
              </a:tr>
              <a:tr h="3805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t/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b="1" lang="en-US" sz="2000" u="none" cap="none" strike="noStrik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SLICING IS NOT SUPPORTED</a:t>
                      </a:r>
                      <a:endParaRPr b="1" sz="2000" u="none" cap="none" strike="noStrike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sz="20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4"/>
          <p:cNvSpPr txBox="1"/>
          <p:nvPr>
            <p:ph type="title"/>
          </p:nvPr>
        </p:nvSpPr>
        <p:spPr>
          <a:xfrm>
            <a:off x="838199" y="91438"/>
            <a:ext cx="10515600" cy="8024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Common Operations for Set / Frozenset </a:t>
            </a:r>
            <a:endParaRPr/>
          </a:p>
        </p:txBody>
      </p:sp>
      <p:graphicFrame>
        <p:nvGraphicFramePr>
          <p:cNvPr id="168" name="Google Shape;168;p14"/>
          <p:cNvGraphicFramePr/>
          <p:nvPr/>
        </p:nvGraphicFramePr>
        <p:xfrm>
          <a:off x="243736" y="754469"/>
          <a:ext cx="3000000" cy="3000000"/>
        </p:xfrm>
        <a:graphic>
          <a:graphicData uri="http://schemas.openxmlformats.org/drawingml/2006/table">
            <a:tbl>
              <a:tblPr firstRow="1">
                <a:noFill/>
                <a:tableStyleId>{A658E51A-BA14-4C2F-9ACB-BA8053FBF624}</a:tableStyleId>
              </a:tblPr>
              <a:tblGrid>
                <a:gridCol w="740500"/>
                <a:gridCol w="3849025"/>
                <a:gridCol w="7115000"/>
              </a:tblGrid>
              <a:tr h="4483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/>
                        <a:t>Sr No</a:t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/>
                        <a:t>Operation</a:t>
                      </a:r>
                      <a:endParaRPr b="1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/>
                        <a:t>Result</a:t>
                      </a:r>
                      <a:endParaRPr b="1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ctr"/>
                </a:tc>
              </a:tr>
              <a:tr h="4483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Calibri"/>
                        <a:buNone/>
                      </a:pPr>
                      <a:r>
                        <a:rPr b="0" i="0" lang="en-US" sz="1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s1.symmetric_difference(s2) or s1 ^ s2</a:t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/>
                        <a:t>Get symmetric difference between s1 and s2</a:t>
                      </a:r>
                      <a:endParaRPr sz="1800" u="none" cap="none" strike="noStrike"/>
                    </a:p>
                  </a:txBody>
                  <a:tcPr marT="9525" marB="0" marR="9525" marL="9525" anchor="ctr"/>
                </a:tc>
              </a:tr>
            </a:tbl>
          </a:graphicData>
        </a:graphic>
      </p:graphicFrame>
      <p:graphicFrame>
        <p:nvGraphicFramePr>
          <p:cNvPr id="169" name="Google Shape;169;p14"/>
          <p:cNvGraphicFramePr/>
          <p:nvPr/>
        </p:nvGraphicFramePr>
        <p:xfrm>
          <a:off x="243735" y="2209747"/>
          <a:ext cx="3000000" cy="3000000"/>
        </p:xfrm>
        <a:graphic>
          <a:graphicData uri="http://schemas.openxmlformats.org/drawingml/2006/table">
            <a:tbl>
              <a:tblPr firstRow="1">
                <a:noFill/>
                <a:tableStyleId>{A658E51A-BA14-4C2F-9ACB-BA8053FBF624}</a:tableStyleId>
              </a:tblPr>
              <a:tblGrid>
                <a:gridCol w="740500"/>
                <a:gridCol w="3849025"/>
                <a:gridCol w="7115000"/>
              </a:tblGrid>
              <a:tr h="4152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/>
                        <a:t>Sr No</a:t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/>
                        <a:t>Operation</a:t>
                      </a:r>
                      <a:endParaRPr b="1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/>
                        <a:t>Result</a:t>
                      </a:r>
                      <a:endParaRPr b="1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ctr"/>
                </a:tc>
              </a:tr>
              <a:tr h="4152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Calibri"/>
                        <a:buNone/>
                      </a:pPr>
                      <a:r>
                        <a:rPr b="0" i="0" lang="en-US" sz="1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16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s1.clear()</a:t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/>
                        <a:t>Remove all elements from set s1</a:t>
                      </a:r>
                      <a:endParaRPr sz="1800" u="none" cap="none" strike="noStrike"/>
                    </a:p>
                  </a:txBody>
                  <a:tcPr marT="9525" marB="0" marR="9525" marL="9525" anchor="ctr"/>
                </a:tc>
              </a:tr>
              <a:tr h="4152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Calibri"/>
                        <a:buNone/>
                      </a:pPr>
                      <a:r>
                        <a:rPr b="0" i="0" lang="en-US" sz="1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17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s1.add(element)</a:t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/>
                        <a:t>Add element to a set</a:t>
                      </a:r>
                      <a:endParaRPr/>
                    </a:p>
                  </a:txBody>
                  <a:tcPr marT="9525" marB="0" marR="9525" marL="9525" anchor="ctr"/>
                </a:tc>
              </a:tr>
              <a:tr h="4152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Calibri"/>
                        <a:buNone/>
                      </a:pPr>
                      <a:r>
                        <a:rPr b="0" i="0" lang="en-US" sz="1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18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s1.remove(element)</a:t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/>
                        <a:t>Remove element or set of elements from a set if present else raise KeyError</a:t>
                      </a:r>
                      <a:endParaRPr sz="1800" u="none" cap="none" strike="noStrike"/>
                    </a:p>
                  </a:txBody>
                  <a:tcPr marT="9525" marB="0" marR="9525" marL="9525" anchor="ctr"/>
                </a:tc>
              </a:tr>
              <a:tr h="4152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Calibri"/>
                        <a:buNone/>
                      </a:pPr>
                      <a:r>
                        <a:rPr b="0" i="0" lang="en-US" sz="1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19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s1.discard(element)</a:t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/>
                        <a:t>Remove element or set of elements from the set if it is present.</a:t>
                      </a:r>
                      <a:endParaRPr sz="1800" u="none" cap="none" strike="noStrike"/>
                    </a:p>
                  </a:txBody>
                  <a:tcPr marT="9525" marB="0" marR="9525" marL="9525" anchor="ctr"/>
                </a:tc>
              </a:tr>
              <a:tr h="516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Calibri"/>
                        <a:buNone/>
                      </a:pPr>
                      <a:r>
                        <a:rPr b="0" i="0" lang="en-US" sz="1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s1.pop()</a:t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/>
                        <a:t>Remove and return arbitrary element from set and raise KeyError is set is empty</a:t>
                      </a:r>
                      <a:endParaRPr/>
                    </a:p>
                  </a:txBody>
                  <a:tcPr marT="9525" marB="0" marR="9525" marL="9525" anchor="ctr"/>
                </a:tc>
              </a:tr>
              <a:tr h="4152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Calibri"/>
                        <a:buNone/>
                      </a:pPr>
                      <a:r>
                        <a:rPr b="0" i="0" lang="en-US" sz="1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21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s1.update(s2) or s1 |= s2 | s3 | ..</a:t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/>
                        <a:t>Update the set, adding elements from all others.</a:t>
                      </a:r>
                      <a:endParaRPr sz="1800" u="none" cap="none" strike="noStrike"/>
                    </a:p>
                  </a:txBody>
                  <a:tcPr marT="9525" marB="0" marR="9525" marL="9525" anchor="ctr"/>
                </a:tc>
              </a:tr>
              <a:tr h="4152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Calibri"/>
                        <a:buNone/>
                      </a:pPr>
                      <a:r>
                        <a:rPr b="0" i="0" lang="en-US" sz="1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22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s1.intersection_update(s2) or 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s1 &amp;= s2 &amp; s3 &amp; ..</a:t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/>
                        <a:t>Update the set, keeping only common elements found in it and all others</a:t>
                      </a:r>
                      <a:endParaRPr sz="1800" u="none" cap="none" strike="noStrike"/>
                    </a:p>
                  </a:txBody>
                  <a:tcPr marT="9525" marB="0" marR="9525" marL="9525" anchor="ctr"/>
                </a:tc>
              </a:tr>
              <a:tr h="4152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Calibri"/>
                        <a:buNone/>
                      </a:pPr>
                      <a:r>
                        <a:rPr b="0" i="0" lang="en-US" sz="1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23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s1.difference_update(s2) or s1 -=s2</a:t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/>
                        <a:t>Update the set, removing elements found in others.</a:t>
                      </a:r>
                      <a:endParaRPr sz="1800" u="none" cap="none" strike="noStrike"/>
                    </a:p>
                  </a:txBody>
                  <a:tcPr marT="9525" marB="0" marR="9525" marL="9525" anchor="ctr"/>
                </a:tc>
              </a:tr>
              <a:tr h="4152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Calibri"/>
                        <a:buNone/>
                      </a:pPr>
                      <a:r>
                        <a:rPr b="0" i="0" lang="en-US" sz="1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24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s1.</a:t>
                      </a:r>
                      <a:r>
                        <a:rPr lang="en-US" sz="1800" u="none" cap="none" strike="noStrike"/>
                        <a:t> symmetric_difference_update(s2) or s1 ^= s2</a:t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/>
                        <a:t>Update the set, keeping only elements found in either set, but not in both.</a:t>
                      </a:r>
                      <a:endParaRPr sz="1800" u="none" cap="none" strike="noStrike"/>
                    </a:p>
                  </a:txBody>
                  <a:tcPr marT="9525" marB="0" marR="9525" marL="9525" anchor="ctr"/>
                </a:tc>
              </a:tr>
            </a:tbl>
          </a:graphicData>
        </a:graphic>
      </p:graphicFrame>
      <p:sp>
        <p:nvSpPr>
          <p:cNvPr id="170" name="Google Shape;170;p14"/>
          <p:cNvSpPr txBox="1"/>
          <p:nvPr/>
        </p:nvSpPr>
        <p:spPr>
          <a:xfrm>
            <a:off x="938346" y="1758015"/>
            <a:ext cx="10515600" cy="50398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85000" lnSpcReduction="20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b="0" i="0" lang="en-US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Common Operations ONLY for Set  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5"/>
          <p:cNvSpPr txBox="1"/>
          <p:nvPr/>
        </p:nvSpPr>
        <p:spPr>
          <a:xfrm>
            <a:off x="1995055" y="2438588"/>
            <a:ext cx="8799615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en-US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Dict (Dictionary) Data Type &amp; Operations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6"/>
          <p:cNvSpPr txBox="1"/>
          <p:nvPr>
            <p:ph type="title"/>
          </p:nvPr>
        </p:nvSpPr>
        <p:spPr>
          <a:xfrm>
            <a:off x="838200" y="228600"/>
            <a:ext cx="10515600" cy="9302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Dict (Dictionary)</a:t>
            </a:r>
            <a:endParaRPr/>
          </a:p>
        </p:txBody>
      </p:sp>
      <p:sp>
        <p:nvSpPr>
          <p:cNvPr id="181" name="Google Shape;181;p16"/>
          <p:cNvSpPr txBox="1"/>
          <p:nvPr>
            <p:ph idx="1" type="body"/>
          </p:nvPr>
        </p:nvSpPr>
        <p:spPr>
          <a:xfrm>
            <a:off x="381000" y="1143000"/>
            <a:ext cx="109728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Dictionary is </a:t>
            </a:r>
            <a:r>
              <a:rPr b="1" lang="en-US"/>
              <a:t>ordered</a:t>
            </a:r>
            <a:r>
              <a:rPr lang="en-US"/>
              <a:t> collection of key:value pairs, where all keys are non-duplicate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In other languages it is HashMap or HashTable or associative arrays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Recently dictionaries are Ordered after Python 3.6+ , before they were unordered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US"/>
              <a:t>Order</a:t>
            </a:r>
            <a:r>
              <a:rPr lang="en-US"/>
              <a:t> is based on insertion of keys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Dictionary is </a:t>
            </a:r>
            <a:r>
              <a:rPr lang="en-US">
                <a:solidFill>
                  <a:schemeClr val="accent6"/>
                </a:solidFill>
              </a:rPr>
              <a:t>mutable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US"/>
              <a:t>Key</a:t>
            </a:r>
            <a:r>
              <a:rPr lang="en-US"/>
              <a:t> can be any </a:t>
            </a:r>
            <a:r>
              <a:rPr i="1" lang="en-US" u="sng"/>
              <a:t>non duplicate and immutable element</a:t>
            </a:r>
            <a:r>
              <a:rPr lang="en-US"/>
              <a:t> 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ONLY int/float/complex/bool/string/tuple/frozenset are allowed as key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Tuple having mutable element directly or indirectly are not allowed as keys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US"/>
              <a:t>Value</a:t>
            </a:r>
            <a:r>
              <a:rPr lang="en-US"/>
              <a:t> can be </a:t>
            </a:r>
            <a:r>
              <a:rPr i="1" lang="en-US" u="sng"/>
              <a:t>any data type and mutable</a:t>
            </a:r>
            <a:endParaRPr i="1" u="sng"/>
          </a:p>
          <a:p>
            <a:pPr indent="-6413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Dict is ordered means sequence of elements same as sequence in which they are added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Search of key happens by using hash function, which is very efficient search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7"/>
          <p:cNvSpPr txBox="1"/>
          <p:nvPr>
            <p:ph type="title"/>
          </p:nvPr>
        </p:nvSpPr>
        <p:spPr>
          <a:xfrm>
            <a:off x="838200" y="77742"/>
            <a:ext cx="10515600" cy="75828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Dictionary common operations</a:t>
            </a:r>
            <a:endParaRPr/>
          </a:p>
        </p:txBody>
      </p:sp>
      <p:sp>
        <p:nvSpPr>
          <p:cNvPr id="187" name="Google Shape;187;p17"/>
          <p:cNvSpPr txBox="1"/>
          <p:nvPr>
            <p:ph idx="1" type="body"/>
          </p:nvPr>
        </p:nvSpPr>
        <p:spPr>
          <a:xfrm>
            <a:off x="319683" y="718456"/>
            <a:ext cx="11214820" cy="9013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US"/>
              <a:t>dict() </a:t>
            </a:r>
            <a:r>
              <a:rPr lang="en-US"/>
              <a:t>constructor -&gt; creates dictionary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Note: if same key occurs more than once then existing value is replaced by new one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188" name="Google Shape;188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9683" y="1737359"/>
            <a:ext cx="11489139" cy="50422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8"/>
          <p:cNvSpPr txBox="1"/>
          <p:nvPr>
            <p:ph type="title"/>
          </p:nvPr>
        </p:nvSpPr>
        <p:spPr>
          <a:xfrm>
            <a:off x="801657" y="104503"/>
            <a:ext cx="10515600" cy="6848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Dictionary common operations</a:t>
            </a:r>
            <a:endParaRPr/>
          </a:p>
        </p:txBody>
      </p:sp>
      <p:pic>
        <p:nvPicPr>
          <p:cNvPr id="194" name="Google Shape;194;p18"/>
          <p:cNvPicPr preferRelativeResize="0"/>
          <p:nvPr/>
        </p:nvPicPr>
        <p:blipFill rotWithShape="1">
          <a:blip r:embed="rId3">
            <a:alphaModFix/>
          </a:blip>
          <a:srcRect b="0" l="0" r="0" t="22931"/>
          <a:stretch/>
        </p:blipFill>
        <p:spPr>
          <a:xfrm>
            <a:off x="228179" y="789351"/>
            <a:ext cx="11659021" cy="59002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9"/>
          <p:cNvSpPr txBox="1"/>
          <p:nvPr>
            <p:ph type="title"/>
          </p:nvPr>
        </p:nvSpPr>
        <p:spPr>
          <a:xfrm>
            <a:off x="838199" y="0"/>
            <a:ext cx="10515600" cy="86329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Dictionary common operations</a:t>
            </a:r>
            <a:endParaRPr/>
          </a:p>
        </p:txBody>
      </p:sp>
      <p:pic>
        <p:nvPicPr>
          <p:cNvPr id="200" name="Google Shape;200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2308" y="745725"/>
            <a:ext cx="10934446" cy="59947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0"/>
          <p:cNvSpPr txBox="1"/>
          <p:nvPr>
            <p:ph idx="1" type="body"/>
          </p:nvPr>
        </p:nvSpPr>
        <p:spPr>
          <a:xfrm>
            <a:off x="838199" y="925432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Equality of Dictionaries ( == , != )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Two dictionaries are considered equal if both have all key:value pairs same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Sequence of key:value pairs doesn’t matter in equality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NOTE : Other comparisons are not supported for dictionaries</a:t>
            </a:r>
            <a:endParaRPr/>
          </a:p>
          <a:p>
            <a:pPr indent="-762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  <a:p>
            <a:pPr indent="-762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  <p:sp>
        <p:nvSpPr>
          <p:cNvPr id="206" name="Google Shape;206;p20"/>
          <p:cNvSpPr txBox="1"/>
          <p:nvPr/>
        </p:nvSpPr>
        <p:spPr>
          <a:xfrm>
            <a:off x="838199" y="0"/>
            <a:ext cx="10515600" cy="86329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en-US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Dictionary common operations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7" name="Google Shape;207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199" y="2721458"/>
            <a:ext cx="10356670" cy="40189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213" name="Google Shape;213;p21"/>
          <p:cNvSpPr txBox="1"/>
          <p:nvPr/>
        </p:nvSpPr>
        <p:spPr>
          <a:xfrm>
            <a:off x="838199" y="0"/>
            <a:ext cx="10515600" cy="86329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en-US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Dictionary common operations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14" name="Google Shape;214;p21"/>
          <p:cNvGraphicFramePr/>
          <p:nvPr/>
        </p:nvGraphicFramePr>
        <p:xfrm>
          <a:off x="302352" y="770708"/>
          <a:ext cx="3000000" cy="3000000"/>
        </p:xfrm>
        <a:graphic>
          <a:graphicData uri="http://schemas.openxmlformats.org/drawingml/2006/table">
            <a:tbl>
              <a:tblPr firstRow="1">
                <a:noFill/>
                <a:tableStyleId>{A658E51A-BA14-4C2F-9ACB-BA8053FBF624}</a:tableStyleId>
              </a:tblPr>
              <a:tblGrid>
                <a:gridCol w="740500"/>
                <a:gridCol w="3542200"/>
                <a:gridCol w="7421825"/>
              </a:tblGrid>
              <a:tr h="3805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/>
                        <a:t>Sr No</a:t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/>
                        <a:t>Operation</a:t>
                      </a:r>
                      <a:endParaRPr b="1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/>
                        <a:t>Result</a:t>
                      </a:r>
                      <a:endParaRPr b="1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ctr"/>
                </a:tc>
              </a:tr>
              <a:tr h="3805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/>
                        <a:t>1</a:t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 in d</a:t>
                      </a:r>
                      <a:endParaRPr sz="20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True if </a:t>
                      </a:r>
                      <a:r>
                        <a:rPr b="1" lang="en-US" sz="20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key</a:t>
                      </a:r>
                      <a:r>
                        <a:rPr lang="en-US" sz="20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b="1" lang="en-US" sz="20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of d dictionary </a:t>
                      </a:r>
                      <a:r>
                        <a:rPr lang="en-US" sz="20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is equal to x, else False</a:t>
                      </a:r>
                      <a:endParaRPr sz="20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ctr"/>
                </a:tc>
              </a:tr>
              <a:tr h="3805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/>
                        <a:t>2</a:t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 not in d</a:t>
                      </a:r>
                      <a:endParaRPr sz="20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False if </a:t>
                      </a:r>
                      <a:r>
                        <a:rPr b="1" lang="en-US" sz="20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key of d dictionary </a:t>
                      </a:r>
                      <a:r>
                        <a:rPr lang="en-US" sz="20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is equal to x, else True</a:t>
                      </a:r>
                      <a:endParaRPr sz="20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ctr"/>
                </a:tc>
              </a:tr>
              <a:tr h="3805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b="0" i="0" lang="en-US" sz="14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len(d)</a:t>
                      </a:r>
                      <a:endParaRPr sz="20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 u="none" cap="none" strike="noStrike"/>
                        <a:t>Return the number of items in the dictionary </a:t>
                      </a:r>
                      <a:r>
                        <a:rPr i="1" lang="en-US" sz="2000" u="none" cap="none" strike="noStrike"/>
                        <a:t>d</a:t>
                      </a:r>
                      <a:r>
                        <a:rPr lang="en-US" sz="2000" u="none" cap="none" strike="noStrike"/>
                        <a:t>.</a:t>
                      </a:r>
                      <a:endParaRPr sz="20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ctr"/>
                </a:tc>
              </a:tr>
              <a:tr h="3805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b="0" i="0" lang="en-US" sz="14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min(d)</a:t>
                      </a:r>
                      <a:endParaRPr sz="20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smallest </a:t>
                      </a:r>
                      <a:r>
                        <a:rPr b="1" lang="en-US" sz="20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key of d dictionary  #NOT supported if different type of keys</a:t>
                      </a:r>
                      <a:endParaRPr sz="20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ctr"/>
                </a:tc>
              </a:tr>
              <a:tr h="3805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b="0" i="0" lang="en-US" sz="14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max(d)</a:t>
                      </a:r>
                      <a:endParaRPr sz="20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largest </a:t>
                      </a:r>
                      <a:r>
                        <a:rPr b="1" lang="en-US" sz="20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key of d dictionary  #NOT supported if different type of keys</a:t>
                      </a:r>
                      <a:endParaRPr sz="20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ctr"/>
                </a:tc>
              </a:tr>
              <a:tr h="3805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b="0" i="0" lang="en-US" sz="14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all(d)</a:t>
                      </a:r>
                      <a:endParaRPr sz="20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20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if all </a:t>
                      </a:r>
                      <a:r>
                        <a:rPr b="1" lang="en-US" sz="20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key of d dictionary </a:t>
                      </a:r>
                      <a:r>
                        <a:rPr lang="en-US" sz="20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are non-zero (TRUE) then return TRUE, </a:t>
                      </a:r>
                      <a:endParaRPr sz="20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20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else FALSE</a:t>
                      </a:r>
                      <a:endParaRPr sz="20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ctr"/>
                </a:tc>
              </a:tr>
              <a:tr h="3805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b="0" i="0" lang="en-US" sz="14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</a:t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any(d)</a:t>
                      </a:r>
                      <a:endParaRPr sz="20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20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if any </a:t>
                      </a:r>
                      <a:r>
                        <a:rPr b="1" lang="en-US" sz="20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key of d dictionary </a:t>
                      </a:r>
                      <a:r>
                        <a:rPr lang="en-US" sz="20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is TRUE then return TRUE else return FALSE</a:t>
                      </a:r>
                      <a:endParaRPr sz="20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ctr"/>
                </a:tc>
              </a:tr>
              <a:tr h="3805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Calibri"/>
                        <a:buNone/>
                      </a:pPr>
                      <a:r>
                        <a:rPr b="0" i="0" lang="en-US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</a:t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list(d)</a:t>
                      </a:r>
                      <a:endParaRPr/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2000" u="none" cap="none" strike="noStrike"/>
                        <a:t>Return a list of all the keys used in the dictionary </a:t>
                      </a:r>
                      <a:r>
                        <a:rPr i="1" lang="en-US" sz="2000" u="none" cap="none" strike="noStrike"/>
                        <a:t>d</a:t>
                      </a:r>
                      <a:r>
                        <a:rPr lang="en-US" sz="2000" u="none" cap="none" strike="noStrike"/>
                        <a:t>.</a:t>
                      </a:r>
                      <a:endParaRPr sz="20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ctr"/>
                </a:tc>
              </a:tr>
              <a:tr h="3805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Calibri"/>
                        <a:buNone/>
                      </a:pPr>
                      <a:r>
                        <a:rPr b="0" i="0" lang="en-US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</a:t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 u="none" cap="none" strike="noStrike"/>
                        <a:t>d[key]</a:t>
                      </a:r>
                      <a:endParaRPr sz="20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2000" u="none" cap="none" strike="noStrike"/>
                        <a:t>Return the item of </a:t>
                      </a:r>
                      <a:r>
                        <a:rPr i="1" lang="en-US" sz="2000" u="none" cap="none" strike="noStrike"/>
                        <a:t>d</a:t>
                      </a:r>
                      <a:r>
                        <a:rPr lang="en-US" sz="2000" u="none" cap="none" strike="noStrike"/>
                        <a:t> with key </a:t>
                      </a:r>
                      <a:r>
                        <a:rPr i="1" lang="en-US" sz="2000" u="none" cap="none" strike="noStrike"/>
                        <a:t>key</a:t>
                      </a:r>
                      <a:r>
                        <a:rPr lang="en-US" sz="2000" u="none" cap="none" strike="noStrike"/>
                        <a:t>. Raises a </a:t>
                      </a:r>
                      <a:r>
                        <a:rPr lang="en-US" sz="2000" u="sng" cap="none" strike="noStrike">
                          <a:solidFill>
                            <a:schemeClr val="hlink"/>
                          </a:solidFill>
                          <a:hlinkClick r:id="rId3"/>
                        </a:rPr>
                        <a:t>KeyError</a:t>
                      </a:r>
                      <a:r>
                        <a:rPr lang="en-US" sz="2000" u="none" cap="none" strike="noStrike"/>
                        <a:t> if </a:t>
                      </a:r>
                      <a:r>
                        <a:rPr i="1" lang="en-US" sz="2000" u="none" cap="none" strike="noStrike"/>
                        <a:t>key</a:t>
                      </a:r>
                      <a:r>
                        <a:rPr lang="en-US" sz="2000" u="none" cap="none" strike="noStrike"/>
                        <a:t> is not in the map. </a:t>
                      </a:r>
                      <a:endParaRPr sz="20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ctr"/>
                </a:tc>
              </a:tr>
              <a:tr h="3805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Calibri"/>
                        <a:buNone/>
                      </a:pPr>
                      <a:r>
                        <a:rPr b="0" i="0" lang="en-US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</a:t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 u="none" cap="none" strike="noStrike"/>
                        <a:t>d[key] = value</a:t>
                      </a:r>
                      <a:endParaRPr sz="20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2000" u="none" cap="none" strike="noStrike"/>
                        <a:t>Set d[key] to </a:t>
                      </a:r>
                      <a:r>
                        <a:rPr i="1" lang="en-US" sz="2000" u="none" cap="none" strike="noStrike"/>
                        <a:t>value</a:t>
                      </a:r>
                      <a:r>
                        <a:rPr i="0" lang="en-US" sz="2000" u="none" cap="none" strike="noStrike"/>
                        <a:t> if key exists else add new key:value pair at end of dictionary. </a:t>
                      </a:r>
                      <a:r>
                        <a:rPr b="1" i="0" lang="en-US" sz="2000" u="none" cap="none" strike="noStrike"/>
                        <a:t>#</a:t>
                      </a:r>
                      <a:r>
                        <a:rPr b="1" lang="en-US" sz="2000" u="none" cap="none" strike="noStrike"/>
                        <a:t>Note </a:t>
                      </a:r>
                      <a:r>
                        <a:rPr lang="en-US" sz="2000" u="none" cap="none" strike="noStrike"/>
                        <a:t>if key already exists then its order is not affected </a:t>
                      </a:r>
                      <a:endParaRPr/>
                    </a:p>
                  </a:txBody>
                  <a:tcPr marT="9525" marB="0" marR="9525" marL="9525" anchor="ctr"/>
                </a:tc>
              </a:tr>
              <a:tr h="3805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Calibri"/>
                        <a:buNone/>
                      </a:pPr>
                      <a:r>
                        <a:rPr b="0" i="0" lang="en-US" sz="1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11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 u="none" cap="none" strike="noStrike"/>
                        <a:t>del d[key]</a:t>
                      </a:r>
                      <a:endParaRPr sz="20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2000" u="none" cap="none" strike="noStrike"/>
                        <a:t>Remove d[key] from </a:t>
                      </a:r>
                      <a:r>
                        <a:rPr i="1" lang="en-US" sz="2000" u="none" cap="none" strike="noStrike"/>
                        <a:t>d</a:t>
                      </a:r>
                      <a:r>
                        <a:rPr lang="en-US" sz="2000" u="none" cap="none" strike="noStrike"/>
                        <a:t>. Raises a </a:t>
                      </a:r>
                      <a:r>
                        <a:rPr lang="en-US" sz="2000" u="sng" cap="none" strike="noStrike">
                          <a:solidFill>
                            <a:schemeClr val="hlink"/>
                          </a:solidFill>
                          <a:hlinkClick r:id="rId4"/>
                        </a:rPr>
                        <a:t>KeyError</a:t>
                      </a:r>
                      <a:r>
                        <a:rPr lang="en-US" sz="2000" u="none" cap="none" strike="noStrike"/>
                        <a:t> if </a:t>
                      </a:r>
                      <a:r>
                        <a:rPr i="1" lang="en-US" sz="2000" u="none" cap="none" strike="noStrike"/>
                        <a:t>key</a:t>
                      </a:r>
                      <a:r>
                        <a:rPr lang="en-US" sz="2000" u="none" cap="none" strike="noStrike"/>
                        <a:t> is not in the map.</a:t>
                      </a:r>
                      <a:endParaRPr sz="20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ctr"/>
                </a:tc>
              </a:tr>
              <a:tr h="3805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Calibri"/>
                        <a:buNone/>
                      </a:pPr>
                      <a:r>
                        <a:rPr b="0" i="0" lang="en-US" sz="1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 u="none" cap="none" strike="noStrike"/>
                        <a:t>iter(d)</a:t>
                      </a:r>
                      <a:endParaRPr sz="20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2000" u="none" cap="none" strike="noStrike"/>
                        <a:t>Return an iterator over the keys of the dictionary. This is a shortcut for iter(d.keys()).</a:t>
                      </a:r>
                      <a:endParaRPr sz="20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2"/>
          <p:cNvSpPr txBox="1"/>
          <p:nvPr/>
        </p:nvSpPr>
        <p:spPr>
          <a:xfrm>
            <a:off x="838199" y="0"/>
            <a:ext cx="10515600" cy="86329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en-US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Dictionary common operations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20" name="Google Shape;220;p22"/>
          <p:cNvGraphicFramePr/>
          <p:nvPr/>
        </p:nvGraphicFramePr>
        <p:xfrm>
          <a:off x="132805" y="732663"/>
          <a:ext cx="3000000" cy="3000000"/>
        </p:xfrm>
        <a:graphic>
          <a:graphicData uri="http://schemas.openxmlformats.org/drawingml/2006/table">
            <a:tbl>
              <a:tblPr firstRow="1">
                <a:noFill/>
                <a:tableStyleId>{A658E51A-BA14-4C2F-9ACB-BA8053FBF624}</a:tableStyleId>
              </a:tblPr>
              <a:tblGrid>
                <a:gridCol w="740500"/>
                <a:gridCol w="3542200"/>
                <a:gridCol w="7421825"/>
              </a:tblGrid>
              <a:tr h="3805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/>
                        <a:t>Sr No</a:t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/>
                        <a:t>Operation</a:t>
                      </a:r>
                      <a:endParaRPr b="1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/>
                        <a:t>Result</a:t>
                      </a:r>
                      <a:endParaRPr b="1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ctr"/>
                </a:tc>
              </a:tr>
              <a:tr h="3805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/>
                        <a:t>13</a:t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d.clear()</a:t>
                      </a:r>
                      <a:endParaRPr sz="20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Remove all elements (key value pairs) from a dictionary</a:t>
                      </a:r>
                      <a:endParaRPr sz="20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ctr"/>
                </a:tc>
              </a:tr>
              <a:tr h="3805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Calibri"/>
                        <a:buNone/>
                      </a:pPr>
                      <a:r>
                        <a:rPr b="0" i="0" lang="en-US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</a:t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d.copy()</a:t>
                      </a:r>
                      <a:endParaRPr sz="20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Return shallow copy of dictionary d</a:t>
                      </a:r>
                      <a:endParaRPr sz="20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ctr"/>
                </a:tc>
              </a:tr>
              <a:tr h="3805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Calibri"/>
                        <a:buNone/>
                      </a:pPr>
                      <a:r>
                        <a:rPr b="0" i="0" lang="en-US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</a:t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 u="none" cap="none" strike="noStrike"/>
                        <a:t>dict.fromkeys(</a:t>
                      </a:r>
                      <a:r>
                        <a:rPr i="1" lang="en-US" sz="2000" u="none" cap="none" strike="noStrike"/>
                        <a:t>iterable</a:t>
                      </a:r>
                      <a:r>
                        <a:rPr lang="en-US" sz="2000" u="none" cap="none" strike="noStrike"/>
                        <a:t>[, </a:t>
                      </a:r>
                      <a:r>
                        <a:rPr i="1" lang="en-US" sz="2000" u="none" cap="none" strike="noStrike"/>
                        <a:t>value</a:t>
                      </a:r>
                      <a:r>
                        <a:rPr lang="en-US" sz="2000" u="none" cap="none" strike="noStrike"/>
                        <a:t>])</a:t>
                      </a:r>
                      <a:endParaRPr sz="20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Create dictionary from keys in iterable  and all keys are given same value. NOTE: Don’t use mutable object as value here!</a:t>
                      </a:r>
                      <a:endParaRPr sz="20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ctr"/>
                </a:tc>
              </a:tr>
              <a:tr h="3805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Calibri"/>
                        <a:buNone/>
                      </a:pPr>
                      <a:r>
                        <a:rPr b="0" i="0" lang="en-US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16</a:t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d.</a:t>
                      </a:r>
                      <a:r>
                        <a:rPr lang="en-US" sz="2000" u="none" cap="none" strike="noStrike"/>
                        <a:t>get(</a:t>
                      </a:r>
                      <a:r>
                        <a:rPr i="1" lang="en-US" sz="2000" u="none" cap="none" strike="noStrike"/>
                        <a:t>key</a:t>
                      </a:r>
                      <a:r>
                        <a:rPr lang="en-US" sz="2000" u="none" cap="none" strike="noStrike"/>
                        <a:t>[, </a:t>
                      </a:r>
                      <a:r>
                        <a:rPr i="1" lang="en-US" sz="2000" u="none" cap="none" strike="noStrike"/>
                        <a:t>default</a:t>
                      </a:r>
                      <a:r>
                        <a:rPr lang="en-US" sz="2000" u="none" cap="none" strike="noStrike"/>
                        <a:t>])</a:t>
                      </a:r>
                      <a:endParaRPr sz="20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 u="none" cap="none" strike="noStrike"/>
                        <a:t>Return the value for </a:t>
                      </a:r>
                      <a:r>
                        <a:rPr i="1" lang="en-US" sz="2000" u="none" cap="none" strike="noStrike"/>
                        <a:t>key</a:t>
                      </a:r>
                      <a:r>
                        <a:rPr lang="en-US" sz="2000" u="none" cap="none" strike="noStrike"/>
                        <a:t> if </a:t>
                      </a:r>
                      <a:r>
                        <a:rPr i="1" lang="en-US" sz="2000" u="none" cap="none" strike="noStrike"/>
                        <a:t>key</a:t>
                      </a:r>
                      <a:r>
                        <a:rPr lang="en-US" sz="2000" u="none" cap="none" strike="noStrike"/>
                        <a:t> is in the dictionary, else </a:t>
                      </a:r>
                      <a:r>
                        <a:rPr i="1" lang="en-US" sz="2000" u="none" cap="none" strike="noStrike"/>
                        <a:t>default</a:t>
                      </a:r>
                      <a:r>
                        <a:rPr lang="en-US" sz="2000" u="none" cap="none" strike="noStrike"/>
                        <a:t>. If </a:t>
                      </a:r>
                      <a:r>
                        <a:rPr i="1" lang="en-US" sz="2000" u="none" cap="none" strike="noStrike"/>
                        <a:t>default</a:t>
                      </a:r>
                      <a:r>
                        <a:rPr lang="en-US" sz="2000" u="none" cap="none" strike="noStrike"/>
                        <a:t> is not given, it returns None, </a:t>
                      </a:r>
                      <a:r>
                        <a:rPr b="1" lang="en-US" sz="2000" u="none" cap="none" strike="noStrike"/>
                        <a:t>never</a:t>
                      </a:r>
                      <a:r>
                        <a:rPr lang="en-US" sz="2000" u="none" cap="none" strike="noStrike"/>
                        <a:t> </a:t>
                      </a:r>
                      <a:r>
                        <a:rPr b="1" lang="en-US" sz="2000" u="none" cap="none" strike="noStrike"/>
                        <a:t>raises</a:t>
                      </a:r>
                      <a:r>
                        <a:rPr lang="en-US" sz="2000" u="none" cap="none" strike="noStrike"/>
                        <a:t> a </a:t>
                      </a:r>
                      <a:r>
                        <a:rPr lang="en-US" sz="2000" u="sng" cap="none" strike="noStrike">
                          <a:solidFill>
                            <a:schemeClr val="hlink"/>
                          </a:solidFill>
                          <a:hlinkClick r:id="rId3"/>
                        </a:rPr>
                        <a:t>KeyError</a:t>
                      </a:r>
                      <a:r>
                        <a:rPr lang="en-US" sz="2000" u="none" cap="none" strike="noStrike"/>
                        <a:t>.</a:t>
                      </a:r>
                      <a:endParaRPr sz="20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ctr"/>
                </a:tc>
              </a:tr>
              <a:tr h="3805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Calibri"/>
                        <a:buNone/>
                      </a:pPr>
                      <a:r>
                        <a:rPr b="0" i="0" lang="en-US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17</a:t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d.</a:t>
                      </a:r>
                      <a:r>
                        <a:rPr lang="en-US" sz="2000" u="none" cap="none" strike="noStrike"/>
                        <a:t>items()</a:t>
                      </a:r>
                      <a:endParaRPr sz="20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 u="none" cap="none" strike="noStrike"/>
                        <a:t>Return a new view of the dictionary’s items ((key, value) pairs).</a:t>
                      </a:r>
                      <a:endParaRPr sz="20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ctr"/>
                </a:tc>
              </a:tr>
              <a:tr h="3805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Calibri"/>
                        <a:buNone/>
                      </a:pPr>
                      <a:r>
                        <a:rPr b="0" i="0" lang="en-US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18</a:t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d.keys()</a:t>
                      </a:r>
                      <a:endParaRPr sz="20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 u="none" cap="none" strike="noStrike"/>
                        <a:t>Return a new view of the dictionary’s keys.</a:t>
                      </a:r>
                      <a:endParaRPr sz="20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ctr"/>
                </a:tc>
              </a:tr>
              <a:tr h="3805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Calibri"/>
                        <a:buNone/>
                      </a:pPr>
                      <a:r>
                        <a:rPr b="0" i="0" lang="en-US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19</a:t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d.</a:t>
                      </a:r>
                      <a:r>
                        <a:rPr lang="en-US" sz="2000" u="none" cap="none" strike="noStrike"/>
                        <a:t>pop(</a:t>
                      </a:r>
                      <a:r>
                        <a:rPr i="1" lang="en-US" sz="2000" u="none" cap="none" strike="noStrike"/>
                        <a:t>key</a:t>
                      </a:r>
                      <a:r>
                        <a:rPr lang="en-US" sz="2000" u="none" cap="none" strike="noStrike"/>
                        <a:t>[, </a:t>
                      </a:r>
                      <a:r>
                        <a:rPr i="1" lang="en-US" sz="2000" u="none" cap="none" strike="noStrike"/>
                        <a:t>default</a:t>
                      </a:r>
                      <a:r>
                        <a:rPr lang="en-US" sz="2000" u="none" cap="none" strike="noStrike"/>
                        <a:t>])</a:t>
                      </a:r>
                      <a:endParaRPr sz="20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 u="none" cap="none" strike="noStrike"/>
                        <a:t>If </a:t>
                      </a:r>
                      <a:r>
                        <a:rPr i="1" lang="en-US" sz="2000" u="none" cap="none" strike="noStrike"/>
                        <a:t>key</a:t>
                      </a:r>
                      <a:r>
                        <a:rPr lang="en-US" sz="2000" u="none" cap="none" strike="noStrike"/>
                        <a:t> is in the dictionary, remove it and return its value, else return </a:t>
                      </a:r>
                      <a:r>
                        <a:rPr i="1" lang="en-US" sz="2000" u="none" cap="none" strike="noStrike"/>
                        <a:t>default</a:t>
                      </a:r>
                      <a:r>
                        <a:rPr lang="en-US" sz="2000" u="none" cap="none" strike="noStrike"/>
                        <a:t>. If </a:t>
                      </a:r>
                      <a:r>
                        <a:rPr i="1" lang="en-US" sz="2000" u="none" cap="none" strike="noStrike"/>
                        <a:t>default</a:t>
                      </a:r>
                      <a:r>
                        <a:rPr lang="en-US" sz="2000" u="none" cap="none" strike="noStrike"/>
                        <a:t> is not given and </a:t>
                      </a:r>
                      <a:r>
                        <a:rPr i="1" lang="en-US" sz="2000" u="none" cap="none" strike="noStrike"/>
                        <a:t>key</a:t>
                      </a:r>
                      <a:r>
                        <a:rPr lang="en-US" sz="2000" u="none" cap="none" strike="noStrike"/>
                        <a:t> is not in the dictionary, a </a:t>
                      </a:r>
                      <a:r>
                        <a:rPr lang="en-US" sz="2000" u="sng" cap="none" strike="noStrike">
                          <a:solidFill>
                            <a:schemeClr val="hlink"/>
                          </a:solidFill>
                          <a:hlinkClick r:id="rId4"/>
                        </a:rPr>
                        <a:t>KeyError</a:t>
                      </a:r>
                      <a:r>
                        <a:rPr lang="en-US" sz="2000" u="none" cap="none" strike="noStrike"/>
                        <a:t> is </a:t>
                      </a:r>
                      <a:r>
                        <a:rPr b="1" lang="en-US" sz="2000" u="none" cap="none" strike="noStrike"/>
                        <a:t>raised</a:t>
                      </a:r>
                      <a:r>
                        <a:rPr lang="en-US" sz="2000" u="none" cap="none" strike="noStrike"/>
                        <a:t>.</a:t>
                      </a:r>
                      <a:endParaRPr sz="20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ctr"/>
                </a:tc>
              </a:tr>
              <a:tr h="3805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Calibri"/>
                        <a:buNone/>
                      </a:pPr>
                      <a:r>
                        <a:rPr b="0" i="0" lang="en-US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</a:t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d.</a:t>
                      </a:r>
                      <a:r>
                        <a:rPr lang="en-US" sz="2000" u="none" cap="none" strike="noStrike"/>
                        <a:t>popitem()</a:t>
                      </a:r>
                      <a:endParaRPr sz="20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/>
                        <a:t>Remove and return a (key, value) pair from the dictionary. Pairs are returned in LIFO order.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If the dictionary is empty, calling </a:t>
                      </a:r>
                      <a:r>
                        <a:rPr lang="en-US" sz="2000" u="sng">
                          <a:solidFill>
                            <a:schemeClr val="hlink"/>
                          </a:solidFill>
                          <a:hlinkClick r:id="rId5"/>
                        </a:rPr>
                        <a:t>popitem()</a:t>
                      </a:r>
                      <a:r>
                        <a:rPr lang="en-US" sz="2000"/>
                        <a:t> raises a </a:t>
                      </a:r>
                      <a:r>
                        <a:rPr lang="en-US" sz="2000" u="sng">
                          <a:solidFill>
                            <a:schemeClr val="hlink"/>
                          </a:solidFill>
                          <a:hlinkClick r:id="rId6"/>
                        </a:rPr>
                        <a:t>KeyError</a:t>
                      </a:r>
                      <a:r>
                        <a:rPr lang="en-US" sz="2000"/>
                        <a:t>. 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It is used to destroy items of dictionary one by one</a:t>
                      </a:r>
                      <a:endParaRPr/>
                    </a:p>
                  </a:txBody>
                  <a:tcPr marT="9525" marB="0" marR="9525" marL="9525" anchor="ctr"/>
                </a:tc>
              </a:tr>
              <a:tr h="3805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Calibri"/>
                        <a:buNone/>
                      </a:pPr>
                      <a:r>
                        <a:rPr b="0" i="0" lang="en-US" sz="14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21</a:t>
                      </a:r>
                      <a:endParaRPr b="0" i="0" sz="14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/>
                        <a:t>reversed(d)</a:t>
                      </a:r>
                      <a:endParaRPr sz="20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Return a reverse iterator over the keys of the dictionary. This is a shortcut for reversed(d.keys()). Python 3.8+</a:t>
                      </a:r>
                      <a:endParaRPr/>
                    </a:p>
                  </a:txBody>
                  <a:tcPr marT="9525" marB="0" marR="9525" marL="9525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5" name="Google Shape;225;p23"/>
          <p:cNvGraphicFramePr/>
          <p:nvPr/>
        </p:nvGraphicFramePr>
        <p:xfrm>
          <a:off x="243737" y="963477"/>
          <a:ext cx="3000000" cy="3000000"/>
        </p:xfrm>
        <a:graphic>
          <a:graphicData uri="http://schemas.openxmlformats.org/drawingml/2006/table">
            <a:tbl>
              <a:tblPr firstRow="1">
                <a:noFill/>
                <a:tableStyleId>{A658E51A-BA14-4C2F-9ACB-BA8053FBF624}</a:tableStyleId>
              </a:tblPr>
              <a:tblGrid>
                <a:gridCol w="740500"/>
                <a:gridCol w="2817050"/>
                <a:gridCol w="8146975"/>
              </a:tblGrid>
              <a:tr h="3805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strike="noStrike"/>
                        <a:t>Sr No</a:t>
                      </a:r>
                      <a:endParaRPr b="0" i="0" sz="18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strike="noStrike"/>
                        <a:t>Operation</a:t>
                      </a:r>
                      <a:endParaRPr b="1" i="0" sz="18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strike="noStrike"/>
                        <a:t>Result</a:t>
                      </a:r>
                      <a:endParaRPr b="1" i="0" sz="18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ctr"/>
                </a:tc>
              </a:tr>
              <a:tr h="3805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b="0" i="0" lang="en-US" sz="1400" u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22</a:t>
                      </a:r>
                      <a:endParaRPr b="0" i="0" sz="14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/>
                        <a:t>d.setdefault(</a:t>
                      </a:r>
                      <a:r>
                        <a:rPr i="1" lang="en-US" sz="2000"/>
                        <a:t>key</a:t>
                      </a:r>
                      <a:r>
                        <a:rPr lang="en-US" sz="2000"/>
                        <a:t>[, </a:t>
                      </a:r>
                      <a:r>
                        <a:rPr i="1" lang="en-US" sz="2000"/>
                        <a:t>default</a:t>
                      </a:r>
                      <a:r>
                        <a:rPr lang="en-US" sz="2000"/>
                        <a:t>])</a:t>
                      </a:r>
                      <a:endParaRPr sz="20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/>
                        <a:t>If </a:t>
                      </a:r>
                      <a:r>
                        <a:rPr i="1" lang="en-US" sz="2000"/>
                        <a:t>key</a:t>
                      </a:r>
                      <a:r>
                        <a:rPr lang="en-US" sz="2000"/>
                        <a:t> is in the dictionary, return its value. If not, insert </a:t>
                      </a:r>
                      <a:r>
                        <a:rPr i="1" lang="en-US" sz="2000"/>
                        <a:t>key</a:t>
                      </a:r>
                      <a:r>
                        <a:rPr lang="en-US" sz="2000"/>
                        <a:t> with a value of </a:t>
                      </a:r>
                      <a:r>
                        <a:rPr i="1" lang="en-US" sz="2000"/>
                        <a:t>default</a:t>
                      </a:r>
                      <a:r>
                        <a:rPr lang="en-US" sz="2000"/>
                        <a:t> and return </a:t>
                      </a:r>
                      <a:r>
                        <a:rPr i="1" lang="en-US" sz="2000"/>
                        <a:t>default</a:t>
                      </a:r>
                      <a:r>
                        <a:rPr lang="en-US" sz="2000"/>
                        <a:t>. If default not given then use None.</a:t>
                      </a:r>
                      <a:endParaRPr sz="20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ctr"/>
                </a:tc>
              </a:tr>
              <a:tr h="3805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Calibri"/>
                        <a:buNone/>
                      </a:pPr>
                      <a:r>
                        <a:rPr b="0" i="0" lang="en-US" sz="14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23</a:t>
                      </a:r>
                      <a:endParaRPr b="0" i="0" sz="14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d.</a:t>
                      </a:r>
                      <a:r>
                        <a:rPr lang="en-US" sz="2000"/>
                        <a:t>update([</a:t>
                      </a:r>
                      <a:r>
                        <a:rPr i="1" lang="en-US" sz="2000"/>
                        <a:t>other]</a:t>
                      </a:r>
                      <a:r>
                        <a:rPr lang="en-US" sz="2000"/>
                        <a:t>)</a:t>
                      </a:r>
                      <a:endParaRPr sz="20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Update the dictionary with the key/value pairs from </a:t>
                      </a:r>
                      <a:r>
                        <a:rPr i="1" lang="en-US" sz="2000"/>
                        <a:t>other dictionary</a:t>
                      </a:r>
                      <a:r>
                        <a:rPr lang="en-US" sz="2000"/>
                        <a:t>, overwriting existing keys. Return None.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It accepts either another dictionary object or an iterable of key/value pairs (as tuples or other iterables of length two). If keyword arguments are specified, the dictionary is then updated with those key/value pairs: 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Ex. </a:t>
                      </a:r>
                      <a:r>
                        <a:rPr b="1" lang="en-US" sz="2000"/>
                        <a:t>d.update(red=1, blue=2)</a:t>
                      </a:r>
                      <a:endParaRPr/>
                    </a:p>
                  </a:txBody>
                  <a:tcPr marT="9525" marB="0" marR="9525" marL="9525" anchor="ctr"/>
                </a:tc>
              </a:tr>
              <a:tr h="3805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Calibri"/>
                        <a:buNone/>
                      </a:pPr>
                      <a:r>
                        <a:rPr b="0" i="0" lang="en-US" sz="14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24</a:t>
                      </a:r>
                      <a:endParaRPr b="0" i="0" sz="14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d.values()</a:t>
                      </a:r>
                      <a:endParaRPr sz="20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Return a new view of the dictionary’s values. </a:t>
                      </a:r>
                      <a:endParaRPr/>
                    </a:p>
                  </a:txBody>
                  <a:tcPr marT="9525" marB="0" marR="9525" marL="9525" anchor="ctr"/>
                </a:tc>
              </a:tr>
              <a:tr h="3805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Calibri"/>
                        <a:buNone/>
                      </a:pPr>
                      <a:r>
                        <a:rPr b="0" i="0" lang="en-US" sz="14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25</a:t>
                      </a:r>
                      <a:endParaRPr b="0" i="0" sz="14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/>
                        <a:t>d | other_dict</a:t>
                      </a:r>
                      <a:endParaRPr sz="20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Create a new dictionary with the merged keys and values of </a:t>
                      </a:r>
                      <a:r>
                        <a:rPr i="1" lang="en-US" sz="2000"/>
                        <a:t>d</a:t>
                      </a:r>
                      <a:r>
                        <a:rPr lang="en-US" sz="2000"/>
                        <a:t> and other_dict, which must both be dictionaries. The values of other_dict take priority when </a:t>
                      </a:r>
                      <a:r>
                        <a:rPr i="1" lang="en-US" sz="2000"/>
                        <a:t>d</a:t>
                      </a:r>
                      <a:r>
                        <a:rPr lang="en-US" sz="2000"/>
                        <a:t> and other_dict share keys. Python 3.9+</a:t>
                      </a:r>
                      <a:endParaRPr/>
                    </a:p>
                  </a:txBody>
                  <a:tcPr marT="9525" marB="0" marR="9525" marL="9525" anchor="ctr"/>
                </a:tc>
              </a:tr>
              <a:tr h="3805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Calibri"/>
                        <a:buNone/>
                      </a:pPr>
                      <a:r>
                        <a:rPr b="0" i="0" lang="en-US" sz="14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26</a:t>
                      </a:r>
                      <a:endParaRPr b="0" i="0" sz="14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 |= other</a:t>
                      </a:r>
                      <a:endParaRPr sz="20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Update the dictionary </a:t>
                      </a:r>
                      <a:r>
                        <a:rPr i="1" lang="en-US" sz="2000"/>
                        <a:t>d</a:t>
                      </a:r>
                      <a:r>
                        <a:rPr lang="en-US" sz="2000"/>
                        <a:t> with keys and values from other, which may be either a </a:t>
                      </a:r>
                      <a:r>
                        <a:rPr lang="en-US" sz="2000" u="sng">
                          <a:solidFill>
                            <a:schemeClr val="hlink"/>
                          </a:solidFill>
                          <a:hlinkClick r:id="rId3"/>
                        </a:rPr>
                        <a:t>mapping</a:t>
                      </a:r>
                      <a:r>
                        <a:rPr lang="en-US" sz="2000"/>
                        <a:t> or an </a:t>
                      </a:r>
                      <a:r>
                        <a:rPr lang="en-US" sz="2000" u="sng">
                          <a:solidFill>
                            <a:schemeClr val="hlink"/>
                          </a:solidFill>
                          <a:hlinkClick r:id="rId4"/>
                        </a:rPr>
                        <a:t>iterable</a:t>
                      </a:r>
                      <a:r>
                        <a:rPr lang="en-US" sz="2000"/>
                        <a:t> of key/value pairs. The values of </a:t>
                      </a:r>
                      <a:r>
                        <a:rPr i="1" lang="en-US" sz="2000"/>
                        <a:t>other</a:t>
                      </a:r>
                      <a:r>
                        <a:rPr lang="en-US" sz="2000"/>
                        <a:t> take priority when </a:t>
                      </a:r>
                      <a:r>
                        <a:rPr i="1" lang="en-US" sz="2000"/>
                        <a:t>d</a:t>
                      </a:r>
                      <a:r>
                        <a:rPr lang="en-US" sz="2000"/>
                        <a:t> and </a:t>
                      </a:r>
                      <a:r>
                        <a:rPr i="1" lang="en-US" sz="2000"/>
                        <a:t>other</a:t>
                      </a:r>
                      <a:r>
                        <a:rPr lang="en-US" sz="2000"/>
                        <a:t> share keys. Python 3.9+</a:t>
                      </a:r>
                      <a:endParaRPr/>
                    </a:p>
                  </a:txBody>
                  <a:tcPr marT="9525" marB="0" marR="9525" marL="9525" anchor="ctr"/>
                </a:tc>
              </a:tr>
              <a:tr h="3805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t/>
                      </a:r>
                      <a:endParaRPr b="0" i="0" sz="14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b="1" lang="en-US" sz="200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SLICING</a:t>
                      </a:r>
                      <a:endParaRPr b="1" sz="2000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>
                          <a:solidFill>
                            <a:srgbClr val="FF0000"/>
                          </a:solidFill>
                        </a:rPr>
                        <a:t> NOT Supported in dictionaries</a:t>
                      </a:r>
                      <a:endParaRPr/>
                    </a:p>
                  </a:txBody>
                  <a:tcPr marT="9525" marB="0" marR="9525" marL="9525" anchor="ctr"/>
                </a:tc>
              </a:tr>
            </a:tbl>
          </a:graphicData>
        </a:graphic>
      </p:graphicFrame>
      <p:sp>
        <p:nvSpPr>
          <p:cNvPr id="226" name="Google Shape;226;p23"/>
          <p:cNvSpPr txBox="1"/>
          <p:nvPr>
            <p:ph type="title"/>
          </p:nvPr>
        </p:nvSpPr>
        <p:spPr>
          <a:xfrm>
            <a:off x="838200" y="143056"/>
            <a:ext cx="10515600" cy="6145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b="0" i="0" lang="en-US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Dictionary common operations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24"/>
          <p:cNvSpPr txBox="1"/>
          <p:nvPr>
            <p:ph type="title"/>
          </p:nvPr>
        </p:nvSpPr>
        <p:spPr>
          <a:xfrm>
            <a:off x="838200" y="209006"/>
            <a:ext cx="10515600" cy="8154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Dictionary Comprehension</a:t>
            </a:r>
            <a:endParaRPr/>
          </a:p>
        </p:txBody>
      </p:sp>
      <p:sp>
        <p:nvSpPr>
          <p:cNvPr id="232" name="Google Shape;232;p24"/>
          <p:cNvSpPr txBox="1"/>
          <p:nvPr>
            <p:ph idx="1" type="body"/>
          </p:nvPr>
        </p:nvSpPr>
        <p:spPr>
          <a:xfrm>
            <a:off x="838200" y="875212"/>
            <a:ext cx="10515600" cy="48706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Used to create dictionaries faster than adding elements in a loop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Code is included in braces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Syntax -&gt; { &lt;key&gt; : &lt;value&gt;  for x in … }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It can be used to select elements from other dictionary using condition 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233" name="Google Shape;233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4762" y="3135086"/>
            <a:ext cx="11375684" cy="36053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2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Dictionary packing and Unpacking</a:t>
            </a:r>
            <a:endParaRPr/>
          </a:p>
        </p:txBody>
      </p:sp>
      <p:sp>
        <p:nvSpPr>
          <p:cNvPr id="239" name="Google Shape;239;p25"/>
          <p:cNvSpPr txBox="1"/>
          <p:nvPr>
            <p:ph idx="1" type="body"/>
          </p:nvPr>
        </p:nvSpPr>
        <p:spPr>
          <a:xfrm>
            <a:off x="838200" y="5525589"/>
            <a:ext cx="10515600" cy="6513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0000" lnSpcReduction="2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Good Ref for packing and unpacking in list, tuple, set and dictionary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u="sng">
                <a:solidFill>
                  <a:schemeClr val="hlink"/>
                </a:solidFill>
                <a:hlinkClick r:id="rId3"/>
              </a:rPr>
              <a:t>https://stackabuse.com/unpacking-in-python-beyond-parallel-assignment/</a:t>
            </a:r>
            <a:r>
              <a:rPr lang="en-US"/>
              <a:t> </a:t>
            </a:r>
            <a:endParaRPr/>
          </a:p>
        </p:txBody>
      </p:sp>
      <p:pic>
        <p:nvPicPr>
          <p:cNvPr id="240" name="Google Shape;240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8200" y="2568251"/>
            <a:ext cx="10515600" cy="2177626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25"/>
          <p:cNvSpPr txBox="1"/>
          <p:nvPr/>
        </p:nvSpPr>
        <p:spPr>
          <a:xfrm>
            <a:off x="838200" y="1690688"/>
            <a:ext cx="10752174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‘**’  suffix to a variable is used as dictionary unpacking operator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2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Dictionary Extra</a:t>
            </a:r>
            <a:endParaRPr/>
          </a:p>
        </p:txBody>
      </p:sp>
      <p:sp>
        <p:nvSpPr>
          <p:cNvPr id="247" name="Google Shape;247;p2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How to create dictionary using two separate lists one having all keys another having all values ?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How dictionary maintains order and why?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u="sng">
                <a:solidFill>
                  <a:schemeClr val="hlink"/>
                </a:solidFill>
                <a:hlinkClick r:id="rId3"/>
              </a:rPr>
              <a:t>https://stackoverflow.com/questions/50872498/will-ordereddict-become-redundant-in-python-3-7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Another Method to create dictionary :</a:t>
            </a:r>
            <a:endParaRPr/>
          </a:p>
        </p:txBody>
      </p:sp>
      <p:pic>
        <p:nvPicPr>
          <p:cNvPr id="248" name="Google Shape;248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8200" y="5028384"/>
            <a:ext cx="10343606" cy="1411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27"/>
          <p:cNvSpPr txBox="1"/>
          <p:nvPr>
            <p:ph type="title"/>
          </p:nvPr>
        </p:nvSpPr>
        <p:spPr>
          <a:xfrm>
            <a:off x="838200" y="365125"/>
            <a:ext cx="10515600" cy="64071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Dictionary View Objects  (Extra)</a:t>
            </a:r>
            <a:endParaRPr/>
          </a:p>
        </p:txBody>
      </p:sp>
      <p:sp>
        <p:nvSpPr>
          <p:cNvPr id="254" name="Google Shape;254;p27"/>
          <p:cNvSpPr txBox="1"/>
          <p:nvPr>
            <p:ph idx="1" type="body"/>
          </p:nvPr>
        </p:nvSpPr>
        <p:spPr>
          <a:xfrm>
            <a:off x="444137" y="1214846"/>
            <a:ext cx="10909663" cy="54210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The objects returned by </a:t>
            </a:r>
            <a:r>
              <a:rPr b="1" lang="en-US"/>
              <a:t>dict.keys(), dict.values() and dict.items() </a:t>
            </a:r>
            <a:r>
              <a:rPr lang="en-US"/>
              <a:t>are view objects.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They provide a </a:t>
            </a:r>
            <a:r>
              <a:rPr b="1" lang="en-US"/>
              <a:t>dynamic view </a:t>
            </a:r>
            <a:r>
              <a:rPr lang="en-US"/>
              <a:t>on the dictionary’s entries, which means that when the dictionary changes, the view reflects these changes.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Dictionary views can be iterated over (iterable)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Support membership tests (</a:t>
            </a:r>
            <a:r>
              <a:rPr b="1" lang="en-US"/>
              <a:t>in</a:t>
            </a:r>
            <a:r>
              <a:rPr lang="en-US"/>
              <a:t> and </a:t>
            </a:r>
            <a:r>
              <a:rPr b="1" lang="en-US"/>
              <a:t>not in </a:t>
            </a:r>
            <a:r>
              <a:rPr lang="en-US"/>
              <a:t>operations)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len() , iter(), reversed() are supported by this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Ex. list(reversed(d.items()))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len(d.values())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28"/>
          <p:cNvSpPr txBox="1"/>
          <p:nvPr>
            <p:ph type="title"/>
          </p:nvPr>
        </p:nvSpPr>
        <p:spPr>
          <a:xfrm>
            <a:off x="851263" y="292544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Extra material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29"/>
          <p:cNvSpPr txBox="1"/>
          <p:nvPr>
            <p:ph type="title"/>
          </p:nvPr>
        </p:nvSpPr>
        <p:spPr>
          <a:xfrm>
            <a:off x="838200" y="152400"/>
            <a:ext cx="10515600" cy="777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Extra</a:t>
            </a:r>
            <a:endParaRPr/>
          </a:p>
        </p:txBody>
      </p:sp>
      <p:sp>
        <p:nvSpPr>
          <p:cNvPr id="265" name="Google Shape;265;p29"/>
          <p:cNvSpPr txBox="1"/>
          <p:nvPr>
            <p:ph idx="1" type="body"/>
          </p:nvPr>
        </p:nvSpPr>
        <p:spPr>
          <a:xfrm>
            <a:off x="381000" y="930274"/>
            <a:ext cx="11582400" cy="58515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Size of different data types in Python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u="sng">
                <a:solidFill>
                  <a:schemeClr val="hlink"/>
                </a:solidFill>
                <a:hlinkClick r:id="rId3"/>
              </a:rPr>
              <a:t>https://stackoverflow.com/questions/449560/how-do-i-determine-the-size-of-an-object-in-python/30316760#30316760</a:t>
            </a:r>
            <a:r>
              <a:rPr lang="en-US"/>
              <a:t> 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30"/>
          <p:cNvSpPr txBox="1"/>
          <p:nvPr>
            <p:ph type="title"/>
          </p:nvPr>
        </p:nvSpPr>
        <p:spPr>
          <a:xfrm>
            <a:off x="851263" y="2820942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Byte Data Type and Operations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3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Byte Data Type</a:t>
            </a:r>
            <a:endParaRPr/>
          </a:p>
        </p:txBody>
      </p:sp>
      <p:sp>
        <p:nvSpPr>
          <p:cNvPr id="276" name="Google Shape;276;p3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Ref :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u="sng">
                <a:solidFill>
                  <a:schemeClr val="hlink"/>
                </a:solidFill>
                <a:hlinkClick r:id="rId3"/>
              </a:rPr>
              <a:t>https://docs.python.org/3/library/stdtypes.html#bytes-objects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u="sng">
                <a:solidFill>
                  <a:schemeClr val="hlink"/>
                </a:solidFill>
                <a:hlinkClick r:id="rId4"/>
              </a:rPr>
              <a:t>https://docs.python.org/3/library/functions.html#func-bytes</a:t>
            </a:r>
            <a:r>
              <a:rPr lang="en-US"/>
              <a:t> 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Operations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Most of the operations of strings are applicable here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u="sng">
                <a:solidFill>
                  <a:schemeClr val="hlink"/>
                </a:solidFill>
                <a:hlinkClick r:id="rId5"/>
              </a:rPr>
              <a:t>https://docs.python.org/3/library/stdtypes.html#bytes-and-bytearray-operations</a:t>
            </a:r>
            <a:r>
              <a:rPr lang="en-US"/>
              <a:t> 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32"/>
          <p:cNvSpPr txBox="1"/>
          <p:nvPr>
            <p:ph type="title"/>
          </p:nvPr>
        </p:nvSpPr>
        <p:spPr>
          <a:xfrm>
            <a:off x="942703" y="2794816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Bytearray Data Type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33"/>
          <p:cNvSpPr txBox="1"/>
          <p:nvPr>
            <p:ph type="title"/>
          </p:nvPr>
        </p:nvSpPr>
        <p:spPr>
          <a:xfrm>
            <a:off x="838200" y="125640"/>
            <a:ext cx="10515600" cy="70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Bytearray Datatype</a:t>
            </a:r>
            <a:endParaRPr/>
          </a:p>
        </p:txBody>
      </p:sp>
      <p:sp>
        <p:nvSpPr>
          <p:cNvPr id="287" name="Google Shape;287;p33"/>
          <p:cNvSpPr txBox="1"/>
          <p:nvPr>
            <p:ph idx="1" type="body"/>
          </p:nvPr>
        </p:nvSpPr>
        <p:spPr>
          <a:xfrm>
            <a:off x="182882" y="818608"/>
            <a:ext cx="11821886" cy="5882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55A11"/>
              </a:buClr>
              <a:buSzPct val="100000"/>
              <a:buChar char="•"/>
            </a:pPr>
            <a:r>
              <a:rPr lang="en-US">
                <a:solidFill>
                  <a:srgbClr val="C55A11"/>
                </a:solidFill>
              </a:rPr>
              <a:t>Mutable</a:t>
            </a:r>
            <a:r>
              <a:rPr lang="en-US"/>
              <a:t> counter parts of bytes objects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They are always create by calling the constructor bytearry()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US"/>
              <a:t>bytearray() </a:t>
            </a:r>
            <a:r>
              <a:rPr lang="en-US"/>
              <a:t>has three parameters </a:t>
            </a:r>
            <a:r>
              <a:rPr b="1" lang="en-US"/>
              <a:t>source</a:t>
            </a:r>
            <a:r>
              <a:rPr lang="en-US"/>
              <a:t>, </a:t>
            </a:r>
            <a:r>
              <a:rPr b="1" lang="en-US"/>
              <a:t>encoding</a:t>
            </a:r>
            <a:r>
              <a:rPr lang="en-US"/>
              <a:t>, </a:t>
            </a:r>
            <a:r>
              <a:rPr b="1" lang="en-US"/>
              <a:t>errors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The optional </a:t>
            </a:r>
            <a:r>
              <a:rPr b="1" lang="en-US"/>
              <a:t>source parameter </a:t>
            </a:r>
            <a:r>
              <a:rPr lang="en-US"/>
              <a:t>can be used to initialize the array in a few different ways: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    If it is a </a:t>
            </a:r>
            <a:r>
              <a:rPr b="1" lang="en-US"/>
              <a:t>string</a:t>
            </a:r>
            <a:r>
              <a:rPr lang="en-US"/>
              <a:t>, you must also give the </a:t>
            </a:r>
            <a:r>
              <a:rPr b="1" lang="en-US"/>
              <a:t>encoding</a:t>
            </a:r>
            <a:r>
              <a:rPr lang="en-US"/>
              <a:t> (and optionally, errors) parameters; bytearray() then converts the string to bytes using </a:t>
            </a:r>
            <a:r>
              <a:rPr b="1" lang="en-US"/>
              <a:t>str.encode()</a:t>
            </a:r>
            <a:endParaRPr b="1"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    If it is an </a:t>
            </a:r>
            <a:r>
              <a:rPr b="1" lang="en-US"/>
              <a:t>integer</a:t>
            </a:r>
            <a:r>
              <a:rPr lang="en-US"/>
              <a:t>, the array will have that size and will be initialized with null bytes.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    If it is an </a:t>
            </a:r>
            <a:r>
              <a:rPr b="1" lang="en-US"/>
              <a:t>object</a:t>
            </a:r>
            <a:r>
              <a:rPr lang="en-US"/>
              <a:t> conforming to the buffer interface, a read-only buffer of the object will be used to initialize the bytes array.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    If it is an </a:t>
            </a:r>
            <a:r>
              <a:rPr b="1" lang="en-US"/>
              <a:t>iterable</a:t>
            </a:r>
            <a:r>
              <a:rPr lang="en-US"/>
              <a:t>, it must be an iterable of </a:t>
            </a:r>
            <a:r>
              <a:rPr b="1" lang="en-US"/>
              <a:t>integers in the range 0 &lt;= x &lt; 256</a:t>
            </a:r>
            <a:r>
              <a:rPr lang="en-US"/>
              <a:t>, which are used as the initial contents of the array.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US"/>
              <a:t>Without an argument</a:t>
            </a:r>
            <a:r>
              <a:rPr lang="en-US"/>
              <a:t>, an array of size 0 is created.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3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Bytearray Functions</a:t>
            </a:r>
            <a:endParaRPr/>
          </a:p>
        </p:txBody>
      </p:sp>
      <p:sp>
        <p:nvSpPr>
          <p:cNvPr id="293" name="Google Shape;293;p3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It has most of the usual methods of mutable sequences, described in Mutable Sequence Types (List)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Operations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Most of the operations of strings are applicable here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u="sng">
                <a:solidFill>
                  <a:schemeClr val="hlink"/>
                </a:solidFill>
                <a:hlinkClick r:id="rId3"/>
              </a:rPr>
              <a:t>https://docs.python.org/3/library/stdtypes.html#bytes-and-bytearray-operations</a:t>
            </a:r>
            <a:r>
              <a:rPr lang="en-US"/>
              <a:t> 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2023-04-08T10:17:21Z</dcterms:created>
  <dc:creator>cdacstaff</dc:creator>
</cp:coreProperties>
</file>