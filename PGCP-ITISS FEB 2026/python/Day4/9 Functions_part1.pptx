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3" roundtripDataSignature="AMtx7mixlTOx6Tti6Qwhc7fFVTYy8Xwa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customschemas.google.com/relationships/presentationmetadata" Target="metadata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" name="Google Shape;11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" name="Google Shape;12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" name="Google Shape;13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2" name="Google Shape;14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0" name="Google Shape;16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0" name="Google Shape;180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6" name="Google Shape;186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3" name="Google Shape;193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9" name="Google Shape;199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6" name="Google Shape;206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2" name="Google Shape;212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9" name="Google Shape;219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5" name="Google Shape;225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2" name="Google Shape;232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1" name="Google Shape;241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8" name="Google Shape;248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3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3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3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3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Functions in Python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/>
              <a:t>By Dr Shantanu Pathak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Size of Software programs</a:t>
            </a:r>
            <a:endParaRPr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1000 line of code is required for small applications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1000,000 (Million) Lines of codes are used in smart phones or operating systems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Python has more than 100,000+ libraries!!</a:t>
            </a:r>
            <a:endParaRPr b="1"/>
          </a:p>
        </p:txBody>
      </p:sp>
      <p:sp>
        <p:nvSpPr>
          <p:cNvPr id="92" name="Google Shape;92;p2"/>
          <p:cNvSpPr/>
          <p:nvPr/>
        </p:nvSpPr>
        <p:spPr>
          <a:xfrm>
            <a:off x="457200" y="5638800"/>
            <a:ext cx="7696200" cy="1066800"/>
          </a:xfrm>
          <a:prstGeom prst="flowChartPredefinedProcess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Softwares are </a:t>
            </a:r>
            <a:r>
              <a:rPr b="1" i="0" lang="en-US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HUGE</a:t>
            </a:r>
            <a:r>
              <a:rPr b="0" i="0" lang="en-US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b="0" i="0" sz="4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/>
          <p:nvPr>
            <p:ph type="title"/>
          </p:nvPr>
        </p:nvSpPr>
        <p:spPr>
          <a:xfrm>
            <a:off x="457200" y="76200"/>
            <a:ext cx="8229600" cy="715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Modular Programming</a:t>
            </a:r>
            <a:endParaRPr/>
          </a:p>
        </p:txBody>
      </p:sp>
      <p:sp>
        <p:nvSpPr>
          <p:cNvPr id="98" name="Google Shape;98;p3"/>
          <p:cNvSpPr txBox="1"/>
          <p:nvPr>
            <p:ph idx="1" type="body"/>
          </p:nvPr>
        </p:nvSpPr>
        <p:spPr>
          <a:xfrm>
            <a:off x="304800" y="792162"/>
            <a:ext cx="8686800" cy="5608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Huge programs need to be divided into logical subparts and </a:t>
            </a:r>
            <a:r>
              <a:rPr b="1" lang="en-US"/>
              <a:t>small units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These small units should work alone as well as should work when together with other units, like small parts of big machine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Ex.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Gmail App </a:t>
            </a:r>
            <a:r>
              <a:rPr lang="en-US"/>
              <a:t>-&gt; check email, download email, send email, show email , etc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all units work when together as well as individually they work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Such Modular programming is achieved commonly using </a:t>
            </a:r>
            <a:r>
              <a:rPr b="1" lang="en-US"/>
              <a:t>functions</a:t>
            </a:r>
            <a:r>
              <a:rPr lang="en-US"/>
              <a:t>, </a:t>
            </a:r>
            <a:r>
              <a:rPr b="1" lang="en-US"/>
              <a:t>classes</a:t>
            </a:r>
            <a:r>
              <a:rPr lang="en-US"/>
              <a:t>, etc.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 txBox="1"/>
          <p:nvPr>
            <p:ph type="title"/>
          </p:nvPr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Functions</a:t>
            </a:r>
            <a:endParaRPr/>
          </a:p>
        </p:txBody>
      </p:sp>
      <p:sp>
        <p:nvSpPr>
          <p:cNvPr id="104" name="Google Shape;104;p4"/>
          <p:cNvSpPr txBox="1"/>
          <p:nvPr>
            <p:ph idx="1" type="body"/>
          </p:nvPr>
        </p:nvSpPr>
        <p:spPr>
          <a:xfrm>
            <a:off x="457200" y="1143000"/>
            <a:ext cx="82296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Function is group of instructions put together, which can be called (executed) many times whenever required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Ex. print() is a function with group of instructions to print given message on the display screen</a:t>
            </a:r>
            <a:endParaRPr/>
          </a:p>
          <a:p>
            <a:pPr indent="-15494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Functions are created when same steps needs to be repeated many times</a:t>
            </a:r>
            <a:endParaRPr/>
          </a:p>
          <a:p>
            <a:pPr indent="-15494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Small functions make code readable and understandable</a:t>
            </a:r>
            <a:endParaRPr/>
          </a:p>
          <a:p>
            <a:pPr indent="-15494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5494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 txBox="1"/>
          <p:nvPr>
            <p:ph type="title"/>
          </p:nvPr>
        </p:nvSpPr>
        <p:spPr>
          <a:xfrm>
            <a:off x="457200" y="152400"/>
            <a:ext cx="8229600" cy="715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Functions General Overview</a:t>
            </a:r>
            <a:endParaRPr/>
          </a:p>
        </p:txBody>
      </p:sp>
      <p:sp>
        <p:nvSpPr>
          <p:cNvPr id="110" name="Google Shape;110;p5"/>
          <p:cNvSpPr txBox="1"/>
          <p:nvPr>
            <p:ph idx="1" type="body"/>
          </p:nvPr>
        </p:nvSpPr>
        <p:spPr>
          <a:xfrm>
            <a:off x="457200" y="868362"/>
            <a:ext cx="8229600" cy="5837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Parts of function syntax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Name, Parameters, Return Value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Flow of execution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Function definition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Function call -&gt; call after definition ONLY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Where control goes after function?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Parameters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What are parameters?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What is need of parameters ?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How parameters are passed (</a:t>
            </a:r>
            <a:r>
              <a:rPr b="1" lang="en-US"/>
              <a:t>by value </a:t>
            </a:r>
            <a:r>
              <a:rPr lang="en-US"/>
              <a:t>, by ref)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Memory allocation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For code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For parameters and variables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Return value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Always a single value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Why to return a value?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"/>
          <p:cNvSpPr txBox="1"/>
          <p:nvPr>
            <p:ph type="title"/>
          </p:nvPr>
        </p:nvSpPr>
        <p:spPr>
          <a:xfrm>
            <a:off x="533400" y="25908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Functions in Python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/>
          <p:nvPr>
            <p:ph type="title"/>
          </p:nvPr>
        </p:nvSpPr>
        <p:spPr>
          <a:xfrm>
            <a:off x="533400" y="26670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Part 1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"/>
          <p:cNvSpPr txBox="1"/>
          <p:nvPr>
            <p:ph type="title"/>
          </p:nvPr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Functions</a:t>
            </a:r>
            <a:endParaRPr/>
          </a:p>
        </p:txBody>
      </p:sp>
      <p:sp>
        <p:nvSpPr>
          <p:cNvPr id="126" name="Google Shape;126;p8"/>
          <p:cNvSpPr txBox="1"/>
          <p:nvPr>
            <p:ph idx="1" type="body"/>
          </p:nvPr>
        </p:nvSpPr>
        <p:spPr>
          <a:xfrm>
            <a:off x="152400" y="990600"/>
            <a:ext cx="8839200" cy="56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Syntax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Observe the Indentation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Example: function for addition of two numbers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127" name="Google Shape;12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447800"/>
            <a:ext cx="731520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"/>
          <p:cNvSpPr txBox="1"/>
          <p:nvPr>
            <p:ph type="title"/>
          </p:nvPr>
        </p:nvSpPr>
        <p:spPr>
          <a:xfrm>
            <a:off x="457200" y="0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Functions</a:t>
            </a:r>
            <a:endParaRPr/>
          </a:p>
        </p:txBody>
      </p:sp>
      <p:sp>
        <p:nvSpPr>
          <p:cNvPr id="133" name="Google Shape;133;p9"/>
          <p:cNvSpPr txBox="1"/>
          <p:nvPr>
            <p:ph idx="1" type="body"/>
          </p:nvPr>
        </p:nvSpPr>
        <p:spPr>
          <a:xfrm>
            <a:off x="457200" y="639762"/>
            <a:ext cx="8229600" cy="6218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312419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Every function is an object of class function</a:t>
            </a:r>
            <a:endParaRPr/>
          </a:p>
          <a:p>
            <a:pPr indent="-25019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56250"/>
              <a:buChar char="•"/>
            </a:pPr>
            <a:r>
              <a:rPr lang="en-US"/>
              <a:t>Every function is first class object in python (means just like any other variable) Ref: https://en.wikipedia.org/wiki/First-class_citizen</a:t>
            </a:r>
            <a:endParaRPr/>
          </a:p>
          <a:p>
            <a:pPr indent="-312419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We can create </a:t>
            </a:r>
            <a:endParaRPr/>
          </a:p>
          <a:p>
            <a:pPr indent="-259079" lvl="1" marL="74295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List of functions</a:t>
            </a:r>
            <a:endParaRPr/>
          </a:p>
          <a:p>
            <a:pPr indent="-259079" lvl="1" marL="74295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set of functions</a:t>
            </a:r>
            <a:endParaRPr/>
          </a:p>
          <a:p>
            <a:pPr indent="-259079" lvl="1" marL="74295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Dictionary which uses function objects inside</a:t>
            </a:r>
            <a:endParaRPr/>
          </a:p>
          <a:p>
            <a:pPr indent="-312419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Copy by Assignment of function (old deep copy)</a:t>
            </a:r>
            <a:endParaRPr/>
          </a:p>
          <a:p>
            <a:pPr indent="-259079" lvl="1" marL="74295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A function object can be assigned another object reference</a:t>
            </a:r>
            <a:endParaRPr/>
          </a:p>
          <a:p>
            <a:pPr indent="-259079" lvl="1" marL="74295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Ex. Fun1 = my_function</a:t>
            </a:r>
            <a:endParaRPr/>
          </a:p>
          <a:p>
            <a:pPr indent="-312419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Functions can be passed as arguments to other functions and can be returned from a function</a:t>
            </a:r>
            <a:endParaRPr/>
          </a:p>
          <a:p>
            <a:pPr indent="-312419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NOTE: </a:t>
            </a:r>
            <a:endParaRPr/>
          </a:p>
          <a:p>
            <a:pPr indent="-259079" lvl="1" marL="74295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b="1" lang="en-US"/>
              <a:t>Don’t use </a:t>
            </a:r>
            <a:r>
              <a:rPr lang="en-US"/>
              <a:t>variable name same as function name it will change the original function object, and there will be Error when you try to call the function</a:t>
            </a:r>
            <a:endParaRPr/>
          </a:p>
          <a:p>
            <a:pPr indent="-259079" lvl="1" marL="74295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Its </a:t>
            </a:r>
            <a:r>
              <a:rPr b="1" lang="en-US"/>
              <a:t>Good practice </a:t>
            </a:r>
            <a:r>
              <a:rPr lang="en-US"/>
              <a:t>to define all functions in top region of the program and then call them or use is later part. Function definitions within code make code less readable.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Exercise</a:t>
            </a:r>
            <a:endParaRPr/>
          </a:p>
        </p:txBody>
      </p: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WAP function to multiply all odd numbers from 1 to 100 and print the result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WAP to create function to calculate factorial and print it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return Statement</a:t>
            </a:r>
            <a:endParaRPr/>
          </a:p>
        </p:txBody>
      </p:sp>
      <p:sp>
        <p:nvSpPr>
          <p:cNvPr id="145" name="Google Shape;145;p11"/>
          <p:cNvSpPr txBox="1"/>
          <p:nvPr>
            <p:ph idx="1" type="body"/>
          </p:nvPr>
        </p:nvSpPr>
        <p:spPr>
          <a:xfrm>
            <a:off x="457200" y="1295400"/>
            <a:ext cx="8229600" cy="54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Return single value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Ex. input()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WAP for Addition, Multiplication functions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Return multiple values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Python’s trick to return multiple values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Ex. WAP to have maxmin function to return max and min from a list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Return no value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Ex. print()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No return statement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2"/>
          <p:cNvSpPr txBox="1"/>
          <p:nvPr>
            <p:ph type="title"/>
          </p:nvPr>
        </p:nvSpPr>
        <p:spPr>
          <a:xfrm>
            <a:off x="457200" y="0"/>
            <a:ext cx="8229600" cy="792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Recursive Function</a:t>
            </a:r>
            <a:endParaRPr/>
          </a:p>
        </p:txBody>
      </p:sp>
      <p:sp>
        <p:nvSpPr>
          <p:cNvPr id="151" name="Google Shape;151;p12"/>
          <p:cNvSpPr txBox="1"/>
          <p:nvPr>
            <p:ph idx="1" type="body"/>
          </p:nvPr>
        </p:nvSpPr>
        <p:spPr>
          <a:xfrm>
            <a:off x="304800" y="792162"/>
            <a:ext cx="8534400" cy="53038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Function calls itself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Just like a loop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IMP:: Breaking condition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Infinite loop if no breaking condition</a:t>
            </a:r>
            <a:endParaRPr/>
          </a:p>
          <a:p>
            <a:pPr indent="-1079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Exercise: Print hello 3 times using recursive function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Recursive function for factorial calculation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3"/>
          <p:cNvSpPr txBox="1"/>
          <p:nvPr>
            <p:ph type="title"/>
          </p:nvPr>
        </p:nvSpPr>
        <p:spPr>
          <a:xfrm>
            <a:off x="491836" y="46038"/>
            <a:ext cx="8229600" cy="868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Function Parameters &amp; Arguments</a:t>
            </a:r>
            <a:endParaRPr/>
          </a:p>
        </p:txBody>
      </p:sp>
      <p:sp>
        <p:nvSpPr>
          <p:cNvPr id="157" name="Google Shape;157;p13"/>
          <p:cNvSpPr txBox="1"/>
          <p:nvPr>
            <p:ph idx="1" type="body"/>
          </p:nvPr>
        </p:nvSpPr>
        <p:spPr>
          <a:xfrm>
            <a:off x="457200" y="914400"/>
            <a:ext cx="822960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Parameters: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Are given in the function definition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Arguments: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Are actual values sent to the function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Name parameter and argument are </a:t>
            </a:r>
            <a:r>
              <a:rPr b="1" lang="en-US"/>
              <a:t>used interchangeably </a:t>
            </a:r>
            <a:r>
              <a:rPr lang="en-US"/>
              <a:t>in documentation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Arguments are passed by assignment to the function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Argument passing has same behavior as doing assignment operation ( Ex. b=a)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Value of the object reference of argument is given to the parameter of the function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Graphic Example: how values are passed?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Function Parameters &amp; Arguments</a:t>
            </a:r>
            <a:endParaRPr/>
          </a:p>
        </p:txBody>
      </p:sp>
      <p:sp>
        <p:nvSpPr>
          <p:cNvPr id="163" name="Google Shape;16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Behavior of Mutable vs Immutable Arguments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Mutable Arguments: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Because copy by assignment  is passed any changes inside function will reflect to the original object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But, If new object is assigned, then it will not affect original object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Immutable Arguments: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Because copy by assignment is passed when value is changed new object reference is created locally so, original value is not affected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Function Parameters &amp; Arguments</a:t>
            </a:r>
            <a:endParaRPr/>
          </a:p>
        </p:txBody>
      </p:sp>
      <p:sp>
        <p:nvSpPr>
          <p:cNvPr id="169" name="Google Shape;169;p15"/>
          <p:cNvSpPr txBox="1"/>
          <p:nvPr>
            <p:ph idx="1" type="body"/>
          </p:nvPr>
        </p:nvSpPr>
        <p:spPr>
          <a:xfrm>
            <a:off x="457200" y="1600201"/>
            <a:ext cx="82296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Behavior of Mutable vs Immutable Arguments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Example: Observe the changes!</a:t>
            </a:r>
            <a:endParaRPr/>
          </a:p>
        </p:txBody>
      </p:sp>
      <p:pic>
        <p:nvPicPr>
          <p:cNvPr id="170" name="Google Shape;17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24400" y="3047999"/>
            <a:ext cx="4191000" cy="3260725"/>
          </a:xfrm>
          <a:prstGeom prst="rect">
            <a:avLst/>
          </a:prstGeom>
          <a:noFill/>
          <a:ln cap="sq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2352"/>
              </a:srgbClr>
            </a:outerShdw>
          </a:effectLst>
        </p:spPr>
      </p:pic>
      <p:pic>
        <p:nvPicPr>
          <p:cNvPr id="171" name="Google Shape;17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0" y="3001963"/>
            <a:ext cx="4267200" cy="3306761"/>
          </a:xfrm>
          <a:prstGeom prst="rect">
            <a:avLst/>
          </a:prstGeom>
          <a:noFill/>
          <a:ln cap="sq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2352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Function Parameters &amp; Arguments</a:t>
            </a:r>
            <a:endParaRPr/>
          </a:p>
        </p:txBody>
      </p:sp>
      <p:sp>
        <p:nvSpPr>
          <p:cNvPr id="177" name="Google Shape;17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Types of Arguments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Positional Only Parameters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Keyword Only Parameters (Named </a:t>
            </a:r>
            <a:r>
              <a:rPr lang="en-US"/>
              <a:t>arguments</a:t>
            </a:r>
            <a:r>
              <a:rPr lang="en-US"/>
              <a:t>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Standard Parameters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Default Argument Values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Arbitrary length positional Arguments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Arbitrary Length keyword Arguments </a:t>
            </a:r>
            <a:r>
              <a:rPr lang="en-US"/>
              <a:t>(Named arguments)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Function Parameters &amp; Arguments</a:t>
            </a:r>
            <a:endParaRPr/>
          </a:p>
        </p:txBody>
      </p:sp>
      <p:pic>
        <p:nvPicPr>
          <p:cNvPr id="183" name="Google Shape;18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676400"/>
            <a:ext cx="8839200" cy="345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8"/>
          <p:cNvSpPr txBox="1"/>
          <p:nvPr>
            <p:ph type="title"/>
          </p:nvPr>
        </p:nvSpPr>
        <p:spPr>
          <a:xfrm>
            <a:off x="457200" y="274638"/>
            <a:ext cx="8229600" cy="715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Positional Only Arguments</a:t>
            </a:r>
            <a:endParaRPr/>
          </a:p>
        </p:txBody>
      </p:sp>
      <p:sp>
        <p:nvSpPr>
          <p:cNvPr id="189" name="Google Shape;189;p18"/>
          <p:cNvSpPr txBox="1"/>
          <p:nvPr>
            <p:ph idx="1" type="body"/>
          </p:nvPr>
        </p:nvSpPr>
        <p:spPr>
          <a:xfrm>
            <a:off x="457200" y="983673"/>
            <a:ext cx="82296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Arguments can be passed ONLY by position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Calling the function will assign the value to Arguments in sequence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PVM understands all arguments before ‘/’ as position ONLY</a:t>
            </a:r>
            <a:endParaRPr/>
          </a:p>
        </p:txBody>
      </p:sp>
      <p:pic>
        <p:nvPicPr>
          <p:cNvPr id="190" name="Google Shape;19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673928"/>
            <a:ext cx="7848600" cy="40316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Positional Only Arguments</a:t>
            </a:r>
            <a:endParaRPr/>
          </a:p>
        </p:txBody>
      </p:sp>
      <p:pic>
        <p:nvPicPr>
          <p:cNvPr id="196" name="Google Shape;19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828800"/>
            <a:ext cx="7543800" cy="26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0"/>
          <p:cNvSpPr txBox="1"/>
          <p:nvPr>
            <p:ph type="title"/>
          </p:nvPr>
        </p:nvSpPr>
        <p:spPr>
          <a:xfrm>
            <a:off x="457200" y="274638"/>
            <a:ext cx="8229600" cy="715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Keyword Only Arguments</a:t>
            </a:r>
            <a:endParaRPr/>
          </a:p>
        </p:txBody>
      </p:sp>
      <p:sp>
        <p:nvSpPr>
          <p:cNvPr id="202" name="Google Shape;202;p20"/>
          <p:cNvSpPr txBox="1"/>
          <p:nvPr>
            <p:ph idx="1" type="body"/>
          </p:nvPr>
        </p:nvSpPr>
        <p:spPr>
          <a:xfrm>
            <a:off x="457200" y="1011382"/>
            <a:ext cx="8229600" cy="14270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Arguments SHOULD be passed as their name=value format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Sending </a:t>
            </a:r>
            <a:r>
              <a:rPr b="1" lang="en-US"/>
              <a:t>ONLY value </a:t>
            </a:r>
            <a:r>
              <a:rPr lang="en-US"/>
              <a:t>will give </a:t>
            </a:r>
            <a:r>
              <a:rPr b="1" lang="en-US"/>
              <a:t>Error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PVM understand all arguments after ‘*’ as Keyword ONLY</a:t>
            </a:r>
            <a:endParaRPr/>
          </a:p>
        </p:txBody>
      </p:sp>
      <p:pic>
        <p:nvPicPr>
          <p:cNvPr id="203" name="Google Shape;20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2133600"/>
            <a:ext cx="8305800" cy="449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/>
          <p:nvPr>
            <p:ph type="title"/>
          </p:nvPr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Keyword Only Arguments</a:t>
            </a:r>
            <a:endParaRPr/>
          </a:p>
        </p:txBody>
      </p:sp>
      <p:pic>
        <p:nvPicPr>
          <p:cNvPr id="209" name="Google Shape;20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752600"/>
            <a:ext cx="7162800" cy="24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2"/>
          <p:cNvSpPr txBox="1"/>
          <p:nvPr>
            <p:ph type="title"/>
          </p:nvPr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Standard Arguments</a:t>
            </a:r>
            <a:endParaRPr/>
          </a:p>
        </p:txBody>
      </p:sp>
      <p:sp>
        <p:nvSpPr>
          <p:cNvPr id="215" name="Google Shape;215;p22"/>
          <p:cNvSpPr txBox="1"/>
          <p:nvPr>
            <p:ph idx="1" type="body"/>
          </p:nvPr>
        </p:nvSpPr>
        <p:spPr>
          <a:xfrm>
            <a:off x="304800" y="914401"/>
            <a:ext cx="8763000" cy="1676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They can be used as positional as well as keyword arguments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NOTE: Using </a:t>
            </a:r>
            <a:r>
              <a:rPr b="1" lang="en-US"/>
              <a:t>positional</a:t>
            </a:r>
            <a:r>
              <a:rPr lang="en-US"/>
              <a:t> arguments </a:t>
            </a:r>
            <a:r>
              <a:rPr b="1" lang="en-US"/>
              <a:t>after</a:t>
            </a:r>
            <a:r>
              <a:rPr lang="en-US"/>
              <a:t> </a:t>
            </a:r>
            <a:r>
              <a:rPr b="1" lang="en-US"/>
              <a:t>keyword</a:t>
            </a:r>
            <a:r>
              <a:rPr lang="en-US"/>
              <a:t> arguments is </a:t>
            </a:r>
            <a:r>
              <a:rPr b="1" lang="en-US"/>
              <a:t>SyntaxError</a:t>
            </a:r>
            <a:endParaRPr b="1"/>
          </a:p>
        </p:txBody>
      </p:sp>
      <p:pic>
        <p:nvPicPr>
          <p:cNvPr id="216" name="Google Shape;21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590800"/>
            <a:ext cx="8229600" cy="4191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Standard Arguments</a:t>
            </a:r>
            <a:endParaRPr/>
          </a:p>
        </p:txBody>
      </p:sp>
      <p:pic>
        <p:nvPicPr>
          <p:cNvPr id="222" name="Google Shape;22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905000"/>
            <a:ext cx="6019800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4"/>
          <p:cNvSpPr txBox="1"/>
          <p:nvPr>
            <p:ph type="title"/>
          </p:nvPr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Default Arguments</a:t>
            </a:r>
            <a:endParaRPr/>
          </a:p>
        </p:txBody>
      </p:sp>
      <p:sp>
        <p:nvSpPr>
          <p:cNvPr id="228" name="Google Shape;228;p24"/>
          <p:cNvSpPr txBox="1"/>
          <p:nvPr>
            <p:ph idx="1" type="body"/>
          </p:nvPr>
        </p:nvSpPr>
        <p:spPr>
          <a:xfrm>
            <a:off x="228600" y="990600"/>
            <a:ext cx="8465127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All types of arguments can be given default values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Non-default argument after default is not allowed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This makes calls to function, flexible</a:t>
            </a:r>
            <a:endParaRPr/>
          </a:p>
        </p:txBody>
      </p:sp>
      <p:pic>
        <p:nvPicPr>
          <p:cNvPr id="229" name="Google Shape;22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4126" y="2362200"/>
            <a:ext cx="8222673" cy="434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5"/>
          <p:cNvSpPr txBox="1"/>
          <p:nvPr>
            <p:ph type="title"/>
          </p:nvPr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Default Arguments</a:t>
            </a:r>
            <a:endParaRPr/>
          </a:p>
        </p:txBody>
      </p:sp>
      <p:sp>
        <p:nvSpPr>
          <p:cNvPr id="235" name="Google Shape;235;p25"/>
          <p:cNvSpPr txBox="1"/>
          <p:nvPr>
            <p:ph idx="1" type="body"/>
          </p:nvPr>
        </p:nvSpPr>
        <p:spPr>
          <a:xfrm>
            <a:off x="457200" y="35814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Invalid syntax for default arguments -&gt;</a:t>
            </a:r>
            <a:endParaRPr/>
          </a:p>
        </p:txBody>
      </p:sp>
      <p:pic>
        <p:nvPicPr>
          <p:cNvPr id="236" name="Google Shape;23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066800"/>
            <a:ext cx="6934200" cy="2341418"/>
          </a:xfrm>
          <a:prstGeom prst="rect">
            <a:avLst/>
          </a:prstGeom>
          <a:noFill/>
          <a:ln cap="sq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2352"/>
              </a:srgbClr>
            </a:outerShdw>
          </a:effectLst>
        </p:spPr>
      </p:pic>
      <p:pic>
        <p:nvPicPr>
          <p:cNvPr id="237" name="Google Shape;237;p25"/>
          <p:cNvPicPr preferRelativeResize="0"/>
          <p:nvPr/>
        </p:nvPicPr>
        <p:blipFill rotWithShape="1">
          <a:blip r:embed="rId4">
            <a:alphaModFix/>
          </a:blip>
          <a:srcRect b="22449" l="0" r="0" t="0"/>
          <a:stretch/>
        </p:blipFill>
        <p:spPr>
          <a:xfrm>
            <a:off x="457200" y="4191000"/>
            <a:ext cx="7239000" cy="1468582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5"/>
          <p:cNvSpPr txBox="1"/>
          <p:nvPr/>
        </p:nvSpPr>
        <p:spPr>
          <a:xfrm>
            <a:off x="457200" y="5926282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Mutable value as default value 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will lead to having same object reference in all function calls!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6"/>
          <p:cNvSpPr txBox="1"/>
          <p:nvPr>
            <p:ph type="title"/>
          </p:nvPr>
        </p:nvSpPr>
        <p:spPr>
          <a:xfrm>
            <a:off x="477982" y="152400"/>
            <a:ext cx="8229600" cy="731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Arbitrary length positional Arguments</a:t>
            </a:r>
            <a:endParaRPr/>
          </a:p>
        </p:txBody>
      </p:sp>
      <p:sp>
        <p:nvSpPr>
          <p:cNvPr id="244" name="Google Shape;244;p26"/>
          <p:cNvSpPr txBox="1"/>
          <p:nvPr>
            <p:ph idx="1" type="body"/>
          </p:nvPr>
        </p:nvSpPr>
        <p:spPr>
          <a:xfrm>
            <a:off x="457200" y="884239"/>
            <a:ext cx="8229600" cy="3611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Any number of positional arguments are allowed to be sent to such function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Ex. print()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‘*arg’ argument is used for this purpose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All extra positional values are taken as a tuple in ‘arg’ variable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55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3000" u="sng"/>
              <a:t>NOTE</a:t>
            </a:r>
            <a:r>
              <a:rPr lang="en-US" sz="3000"/>
              <a:t>: name ‘arg’ is just variable name it can be any valid variable name</a:t>
            </a:r>
            <a:endParaRPr sz="3000"/>
          </a:p>
        </p:txBody>
      </p:sp>
      <p:pic>
        <p:nvPicPr>
          <p:cNvPr id="245" name="Google Shape;24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4114800"/>
            <a:ext cx="8478982" cy="25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 txBox="1"/>
          <p:nvPr>
            <p:ph type="title"/>
          </p:nvPr>
        </p:nvSpPr>
        <p:spPr>
          <a:xfrm>
            <a:off x="477982" y="152400"/>
            <a:ext cx="8229600" cy="731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Arbitrary length keyword Arguments</a:t>
            </a:r>
            <a:endParaRPr/>
          </a:p>
        </p:txBody>
      </p:sp>
      <p:sp>
        <p:nvSpPr>
          <p:cNvPr id="251" name="Google Shape;251;p27"/>
          <p:cNvSpPr txBox="1"/>
          <p:nvPr>
            <p:ph idx="1" type="body"/>
          </p:nvPr>
        </p:nvSpPr>
        <p:spPr>
          <a:xfrm>
            <a:off x="457200" y="884239"/>
            <a:ext cx="8229600" cy="33067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Any number of keyword arguments are allowed to be sent to such function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‘**kwarg’ argument is used for this purpose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All extra keyword values are taken as a dictionary in ‘kwarg’ variable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55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3000" u="sng"/>
              <a:t>NOTE</a:t>
            </a:r>
            <a:r>
              <a:rPr lang="en-US" sz="3000"/>
              <a:t>: name ‘</a:t>
            </a:r>
            <a:r>
              <a:rPr lang="en-US" sz="2800"/>
              <a:t>kwarg</a:t>
            </a:r>
            <a:r>
              <a:rPr lang="en-US" sz="3000"/>
              <a:t>’ is just variable name it can be any valid variable name</a:t>
            </a:r>
            <a:endParaRPr sz="3000"/>
          </a:p>
        </p:txBody>
      </p:sp>
      <p:pic>
        <p:nvPicPr>
          <p:cNvPr id="252" name="Google Shape;25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6419" y="4038600"/>
            <a:ext cx="8021782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2022-11-29T10:08:25Z</dcterms:created>
  <dc:creator>cdacstaff</dc:creator>
</cp:coreProperties>
</file>